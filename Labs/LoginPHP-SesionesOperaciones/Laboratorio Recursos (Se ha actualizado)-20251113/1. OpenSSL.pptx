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68" r:id="rId6"/>
    <p:sldId id="270" r:id="rId7"/>
    <p:sldId id="271" r:id="rId8"/>
    <p:sldId id="269" r:id="rId9"/>
    <p:sldId id="263" r:id="rId10"/>
    <p:sldId id="264" r:id="rId11"/>
    <p:sldId id="262" r:id="rId12"/>
    <p:sldId id="259" r:id="rId13"/>
    <p:sldId id="260" r:id="rId14"/>
    <p:sldId id="261" r:id="rId15"/>
    <p:sldId id="265" r:id="rId16"/>
    <p:sldId id="266" r:id="rId17"/>
    <p:sldId id="267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B8F176-824D-4C72-83CE-0C49DDEF71DF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</dgm:pt>
    <dgm:pt modelId="{27E23874-E342-483E-86F9-A2A2E6292B30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18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Comunicación segura entre clientes y servidores</a:t>
          </a:r>
          <a:endParaRPr lang="es-PA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F05574-30F4-47A4-825B-660299B521C3}" type="parTrans" cxnId="{01037E69-12CA-4A7D-B5ED-20A2FCE2D4F8}">
      <dgm:prSet/>
      <dgm:spPr/>
      <dgm:t>
        <a:bodyPr/>
        <a:lstStyle/>
        <a:p>
          <a:endParaRPr lang="es-PA"/>
        </a:p>
      </dgm:t>
    </dgm:pt>
    <dgm:pt modelId="{3050D572-85AF-44FD-A932-1FDE876350B9}" type="sibTrans" cxnId="{01037E69-12CA-4A7D-B5ED-20A2FCE2D4F8}">
      <dgm:prSet/>
      <dgm:spPr/>
      <dgm:t>
        <a:bodyPr/>
        <a:lstStyle/>
        <a:p>
          <a:endParaRPr lang="es-PA"/>
        </a:p>
      </dgm:t>
    </dgm:pt>
    <dgm:pt modelId="{5E446CB9-4BD2-4D10-BCF4-018B2268CA72}">
      <dgm:prSet phldrT="[Texto]" custT="1"/>
      <dgm:spPr/>
      <dgm:t>
        <a:bodyPr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b="0" i="0" kern="12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Cifrado de datos</a:t>
          </a:r>
          <a:endParaRPr lang="es-PA" sz="1800" b="0" i="0" kern="1200" dirty="0">
            <a:effectLst/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04B669AF-0913-4384-8DBB-B3ED9BAF55B7}" type="parTrans" cxnId="{BE8C25D9-1FFA-46B8-8C53-45EAD80AD55F}">
      <dgm:prSet/>
      <dgm:spPr/>
      <dgm:t>
        <a:bodyPr/>
        <a:lstStyle/>
        <a:p>
          <a:endParaRPr lang="es-PA"/>
        </a:p>
      </dgm:t>
    </dgm:pt>
    <dgm:pt modelId="{67498971-2DF6-429A-8708-8AF85C5CFBFF}" type="sibTrans" cxnId="{BE8C25D9-1FFA-46B8-8C53-45EAD80AD55F}">
      <dgm:prSet/>
      <dgm:spPr/>
      <dgm:t>
        <a:bodyPr/>
        <a:lstStyle/>
        <a:p>
          <a:endParaRPr lang="es-PA"/>
        </a:p>
      </dgm:t>
    </dgm:pt>
    <dgm:pt modelId="{40ADD3EE-99A1-4F14-8A8C-AA80DE0BA5EC}">
      <dgm:prSet phldrT="[Texto]" custT="1"/>
      <dgm:spPr/>
      <dgm:t>
        <a:bodyPr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b="0" i="0" kern="12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Gestión de certificados</a:t>
          </a:r>
          <a:endParaRPr lang="es-PA" sz="1800" b="0" i="0" kern="1200" dirty="0">
            <a:effectLst/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30BCEE60-F8F5-4A35-A575-A987ED964ED3}" type="parTrans" cxnId="{66790A48-9273-4B44-A652-A80F6D65BC93}">
      <dgm:prSet/>
      <dgm:spPr/>
      <dgm:t>
        <a:bodyPr/>
        <a:lstStyle/>
        <a:p>
          <a:endParaRPr lang="es-PA"/>
        </a:p>
      </dgm:t>
    </dgm:pt>
    <dgm:pt modelId="{3E9D1865-E3A9-4E44-B615-040A2DEFA467}" type="sibTrans" cxnId="{66790A48-9273-4B44-A652-A80F6D65BC93}">
      <dgm:prSet/>
      <dgm:spPr/>
      <dgm:t>
        <a:bodyPr/>
        <a:lstStyle/>
        <a:p>
          <a:endParaRPr lang="es-PA"/>
        </a:p>
      </dgm:t>
    </dgm:pt>
    <dgm:pt modelId="{1800E943-23BA-45F4-891F-A2846C3C1079}">
      <dgm:prSet/>
      <dgm:spPr/>
      <dgm:t>
        <a:bodyPr/>
        <a:lstStyle/>
        <a:p>
          <a:r>
            <a:rPr lang="es-ES" dirty="0"/>
            <a:t>Integridad de los datos y autenticación</a:t>
          </a:r>
          <a:endParaRPr lang="es-PA" dirty="0"/>
        </a:p>
      </dgm:t>
    </dgm:pt>
    <dgm:pt modelId="{4DBC5E8D-751C-41B4-8CD8-865AC6168E21}" type="parTrans" cxnId="{AF76393D-DD6E-4A20-8BAB-143A4817CD82}">
      <dgm:prSet/>
      <dgm:spPr/>
      <dgm:t>
        <a:bodyPr/>
        <a:lstStyle/>
        <a:p>
          <a:endParaRPr lang="es-PA"/>
        </a:p>
      </dgm:t>
    </dgm:pt>
    <dgm:pt modelId="{22860FA5-80F6-40E9-8E00-C2BFF338DD63}" type="sibTrans" cxnId="{AF76393D-DD6E-4A20-8BAB-143A4817CD82}">
      <dgm:prSet/>
      <dgm:spPr/>
      <dgm:t>
        <a:bodyPr/>
        <a:lstStyle/>
        <a:p>
          <a:endParaRPr lang="es-PA"/>
        </a:p>
      </dgm:t>
    </dgm:pt>
    <dgm:pt modelId="{D8D386CB-834F-4FC9-A4D1-C37956F371FE}">
      <dgm:prSet custT="1"/>
      <dgm:spPr/>
      <dgm:t>
        <a:bodyPr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b="0" i="0" kern="12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Generación de números aleatorios</a:t>
          </a:r>
        </a:p>
      </dgm:t>
    </dgm:pt>
    <dgm:pt modelId="{731D907E-EA42-42FE-9013-6113C276A280}" type="parTrans" cxnId="{3FDBD3D4-6AF5-419B-8AA4-E60E2F0BEDEF}">
      <dgm:prSet/>
      <dgm:spPr/>
      <dgm:t>
        <a:bodyPr/>
        <a:lstStyle/>
        <a:p>
          <a:endParaRPr lang="es-PA"/>
        </a:p>
      </dgm:t>
    </dgm:pt>
    <dgm:pt modelId="{C34CE64F-6077-462D-AAC3-BB98A56285A2}" type="sibTrans" cxnId="{3FDBD3D4-6AF5-419B-8AA4-E60E2F0BEDEF}">
      <dgm:prSet/>
      <dgm:spPr/>
      <dgm:t>
        <a:bodyPr/>
        <a:lstStyle/>
        <a:p>
          <a:endParaRPr lang="es-PA"/>
        </a:p>
      </dgm:t>
    </dgm:pt>
    <dgm:pt modelId="{48FCFD40-731A-4096-B6C3-D6AC3EAB1318}">
      <dgm:prSet/>
      <dgm:spPr/>
      <dgm:t>
        <a:bodyPr/>
        <a:lstStyle/>
        <a:p>
          <a:r>
            <a:rPr lang="es-ES" dirty="0"/>
            <a:t>Protocolos y Algoritmos seguros</a:t>
          </a:r>
          <a:endParaRPr lang="es-PA" dirty="0"/>
        </a:p>
      </dgm:t>
    </dgm:pt>
    <dgm:pt modelId="{2CB523B2-72D7-42ED-A671-15BBAE96668E}" type="parTrans" cxnId="{873715AB-3F46-4D41-9F37-769A7C191F5E}">
      <dgm:prSet/>
      <dgm:spPr/>
      <dgm:t>
        <a:bodyPr/>
        <a:lstStyle/>
        <a:p>
          <a:endParaRPr lang="es-PA"/>
        </a:p>
      </dgm:t>
    </dgm:pt>
    <dgm:pt modelId="{E7258FB4-054C-432F-AF8A-7B924550D539}" type="sibTrans" cxnId="{873715AB-3F46-4D41-9F37-769A7C191F5E}">
      <dgm:prSet/>
      <dgm:spPr/>
      <dgm:t>
        <a:bodyPr/>
        <a:lstStyle/>
        <a:p>
          <a:endParaRPr lang="es-PA"/>
        </a:p>
      </dgm:t>
    </dgm:pt>
    <dgm:pt modelId="{BE786F76-4CAA-4D1A-9EF8-F1333375CE85}">
      <dgm:prSet/>
      <dgm:spPr/>
      <dgm:t>
        <a:bodyPr/>
        <a:lstStyle/>
        <a:p>
          <a:r>
            <a:rPr lang="es-ES" dirty="0"/>
            <a:t>Implantación segura de servidores web</a:t>
          </a:r>
          <a:endParaRPr lang="es-PA" dirty="0"/>
        </a:p>
      </dgm:t>
    </dgm:pt>
    <dgm:pt modelId="{0F42A493-3A5F-4C0C-AE2C-B7E87A0BAC44}" type="parTrans" cxnId="{04DABF0B-3439-4632-8074-4F3689CA0446}">
      <dgm:prSet/>
      <dgm:spPr/>
      <dgm:t>
        <a:bodyPr/>
        <a:lstStyle/>
        <a:p>
          <a:endParaRPr lang="es-PA"/>
        </a:p>
      </dgm:t>
    </dgm:pt>
    <dgm:pt modelId="{CDE82B90-C213-495A-ADAB-DE05547F827D}" type="sibTrans" cxnId="{04DABF0B-3439-4632-8074-4F3689CA0446}">
      <dgm:prSet/>
      <dgm:spPr/>
      <dgm:t>
        <a:bodyPr/>
        <a:lstStyle/>
        <a:p>
          <a:endParaRPr lang="es-PA"/>
        </a:p>
      </dgm:t>
    </dgm:pt>
    <dgm:pt modelId="{B570F8B9-2C84-45D1-9449-9ADD73BF6C50}" type="pres">
      <dgm:prSet presAssocID="{A6B8F176-824D-4C72-83CE-0C49DDEF71DF}" presName="CompostProcess" presStyleCnt="0">
        <dgm:presLayoutVars>
          <dgm:dir/>
          <dgm:resizeHandles val="exact"/>
        </dgm:presLayoutVars>
      </dgm:prSet>
      <dgm:spPr/>
    </dgm:pt>
    <dgm:pt modelId="{351B1079-4DAB-4082-8059-59255AE040A0}" type="pres">
      <dgm:prSet presAssocID="{A6B8F176-824D-4C72-83CE-0C49DDEF71DF}" presName="arrow" presStyleLbl="bgShp" presStyleIdx="0" presStyleCnt="1" custLinFactNeighborY="-954"/>
      <dgm:spPr/>
    </dgm:pt>
    <dgm:pt modelId="{69583E19-E93B-48B3-9386-7FC3B6C31736}" type="pres">
      <dgm:prSet presAssocID="{A6B8F176-824D-4C72-83CE-0C49DDEF71DF}" presName="linearProcess" presStyleCnt="0"/>
      <dgm:spPr/>
    </dgm:pt>
    <dgm:pt modelId="{E493BEA9-81A9-42D7-A86D-1B38DA48C0A5}" type="pres">
      <dgm:prSet presAssocID="{27E23874-E342-483E-86F9-A2A2E6292B30}" presName="textNode" presStyleLbl="node1" presStyleIdx="0" presStyleCnt="7">
        <dgm:presLayoutVars>
          <dgm:bulletEnabled val="1"/>
        </dgm:presLayoutVars>
      </dgm:prSet>
      <dgm:spPr/>
    </dgm:pt>
    <dgm:pt modelId="{BBFFB0D4-0192-47E4-B962-CA9947904E4F}" type="pres">
      <dgm:prSet presAssocID="{3050D572-85AF-44FD-A932-1FDE876350B9}" presName="sibTrans" presStyleCnt="0"/>
      <dgm:spPr/>
    </dgm:pt>
    <dgm:pt modelId="{B96D97C4-6173-4730-9DE6-78726A143520}" type="pres">
      <dgm:prSet presAssocID="{5E446CB9-4BD2-4D10-BCF4-018B2268CA72}" presName="textNode" presStyleLbl="node1" presStyleIdx="1" presStyleCnt="7">
        <dgm:presLayoutVars>
          <dgm:bulletEnabled val="1"/>
        </dgm:presLayoutVars>
      </dgm:prSet>
      <dgm:spPr/>
    </dgm:pt>
    <dgm:pt modelId="{0B4C3D0A-E86A-4C5E-B22F-5C24472E708C}" type="pres">
      <dgm:prSet presAssocID="{67498971-2DF6-429A-8708-8AF85C5CFBFF}" presName="sibTrans" presStyleCnt="0"/>
      <dgm:spPr/>
    </dgm:pt>
    <dgm:pt modelId="{AA1B2D52-0DD9-4574-AC86-0E9948A9D018}" type="pres">
      <dgm:prSet presAssocID="{40ADD3EE-99A1-4F14-8A8C-AA80DE0BA5EC}" presName="textNode" presStyleLbl="node1" presStyleIdx="2" presStyleCnt="7">
        <dgm:presLayoutVars>
          <dgm:bulletEnabled val="1"/>
        </dgm:presLayoutVars>
      </dgm:prSet>
      <dgm:spPr/>
    </dgm:pt>
    <dgm:pt modelId="{97BF45FB-E184-4BE7-88F1-51CA6D621729}" type="pres">
      <dgm:prSet presAssocID="{3E9D1865-E3A9-4E44-B615-040A2DEFA467}" presName="sibTrans" presStyleCnt="0"/>
      <dgm:spPr/>
    </dgm:pt>
    <dgm:pt modelId="{4CD8C469-6229-4359-AE52-C31BBA24B411}" type="pres">
      <dgm:prSet presAssocID="{1800E943-23BA-45F4-891F-A2846C3C1079}" presName="textNode" presStyleLbl="node1" presStyleIdx="3" presStyleCnt="7">
        <dgm:presLayoutVars>
          <dgm:bulletEnabled val="1"/>
        </dgm:presLayoutVars>
      </dgm:prSet>
      <dgm:spPr/>
    </dgm:pt>
    <dgm:pt modelId="{09113677-A132-4C94-A71B-50BE9BA6AE86}" type="pres">
      <dgm:prSet presAssocID="{22860FA5-80F6-40E9-8E00-C2BFF338DD63}" presName="sibTrans" presStyleCnt="0"/>
      <dgm:spPr/>
    </dgm:pt>
    <dgm:pt modelId="{4EC2C0A4-DEDB-44A4-99AD-9194356F7C0B}" type="pres">
      <dgm:prSet presAssocID="{D8D386CB-834F-4FC9-A4D1-C37956F371FE}" presName="textNode" presStyleLbl="node1" presStyleIdx="4" presStyleCnt="7">
        <dgm:presLayoutVars>
          <dgm:bulletEnabled val="1"/>
        </dgm:presLayoutVars>
      </dgm:prSet>
      <dgm:spPr/>
    </dgm:pt>
    <dgm:pt modelId="{2E57C23C-06E9-418E-8FB1-6734C5DF5A89}" type="pres">
      <dgm:prSet presAssocID="{C34CE64F-6077-462D-AAC3-BB98A56285A2}" presName="sibTrans" presStyleCnt="0"/>
      <dgm:spPr/>
    </dgm:pt>
    <dgm:pt modelId="{FCF7B645-C9A6-4B9F-ADDF-7DB903B8EEE1}" type="pres">
      <dgm:prSet presAssocID="{48FCFD40-731A-4096-B6C3-D6AC3EAB1318}" presName="textNode" presStyleLbl="node1" presStyleIdx="5" presStyleCnt="7" custLinFactNeighborX="40638">
        <dgm:presLayoutVars>
          <dgm:bulletEnabled val="1"/>
        </dgm:presLayoutVars>
      </dgm:prSet>
      <dgm:spPr/>
    </dgm:pt>
    <dgm:pt modelId="{F07B75CD-0653-4C7A-8D14-FA0A8F30A938}" type="pres">
      <dgm:prSet presAssocID="{E7258FB4-054C-432F-AF8A-7B924550D539}" presName="sibTrans" presStyleCnt="0"/>
      <dgm:spPr/>
    </dgm:pt>
    <dgm:pt modelId="{1EA5DE48-B8C1-457D-ABA7-763E61A4BFB7}" type="pres">
      <dgm:prSet presAssocID="{BE786F76-4CAA-4D1A-9EF8-F1333375CE85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04DABF0B-3439-4632-8074-4F3689CA0446}" srcId="{A6B8F176-824D-4C72-83CE-0C49DDEF71DF}" destId="{BE786F76-4CAA-4D1A-9EF8-F1333375CE85}" srcOrd="6" destOrd="0" parTransId="{0F42A493-3A5F-4C0C-AE2C-B7E87A0BAC44}" sibTransId="{CDE82B90-C213-495A-ADAB-DE05547F827D}"/>
    <dgm:cxn modelId="{293FA336-22D9-473C-B5E5-44F11C4C3CE6}" type="presOf" srcId="{5E446CB9-4BD2-4D10-BCF4-018B2268CA72}" destId="{B96D97C4-6173-4730-9DE6-78726A143520}" srcOrd="0" destOrd="0" presId="urn:microsoft.com/office/officeart/2005/8/layout/hProcess9"/>
    <dgm:cxn modelId="{D251A33B-C65A-46AD-B2AE-250DBD459B73}" type="presOf" srcId="{A6B8F176-824D-4C72-83CE-0C49DDEF71DF}" destId="{B570F8B9-2C84-45D1-9449-9ADD73BF6C50}" srcOrd="0" destOrd="0" presId="urn:microsoft.com/office/officeart/2005/8/layout/hProcess9"/>
    <dgm:cxn modelId="{AF76393D-DD6E-4A20-8BAB-143A4817CD82}" srcId="{A6B8F176-824D-4C72-83CE-0C49DDEF71DF}" destId="{1800E943-23BA-45F4-891F-A2846C3C1079}" srcOrd="3" destOrd="0" parTransId="{4DBC5E8D-751C-41B4-8CD8-865AC6168E21}" sibTransId="{22860FA5-80F6-40E9-8E00-C2BFF338DD63}"/>
    <dgm:cxn modelId="{66790A48-9273-4B44-A652-A80F6D65BC93}" srcId="{A6B8F176-824D-4C72-83CE-0C49DDEF71DF}" destId="{40ADD3EE-99A1-4F14-8A8C-AA80DE0BA5EC}" srcOrd="2" destOrd="0" parTransId="{30BCEE60-F8F5-4A35-A575-A987ED964ED3}" sibTransId="{3E9D1865-E3A9-4E44-B615-040A2DEFA467}"/>
    <dgm:cxn modelId="{01037E69-12CA-4A7D-B5ED-20A2FCE2D4F8}" srcId="{A6B8F176-824D-4C72-83CE-0C49DDEF71DF}" destId="{27E23874-E342-483E-86F9-A2A2E6292B30}" srcOrd="0" destOrd="0" parTransId="{E6F05574-30F4-47A4-825B-660299B521C3}" sibTransId="{3050D572-85AF-44FD-A932-1FDE876350B9}"/>
    <dgm:cxn modelId="{873715AB-3F46-4D41-9F37-769A7C191F5E}" srcId="{A6B8F176-824D-4C72-83CE-0C49DDEF71DF}" destId="{48FCFD40-731A-4096-B6C3-D6AC3EAB1318}" srcOrd="5" destOrd="0" parTransId="{2CB523B2-72D7-42ED-A671-15BBAE96668E}" sibTransId="{E7258FB4-054C-432F-AF8A-7B924550D539}"/>
    <dgm:cxn modelId="{9B3C47AB-FB65-484A-9F95-C52CEC0B872B}" type="presOf" srcId="{1800E943-23BA-45F4-891F-A2846C3C1079}" destId="{4CD8C469-6229-4359-AE52-C31BBA24B411}" srcOrd="0" destOrd="0" presId="urn:microsoft.com/office/officeart/2005/8/layout/hProcess9"/>
    <dgm:cxn modelId="{C97B20B1-30CD-46D5-8420-5B378F682926}" type="presOf" srcId="{40ADD3EE-99A1-4F14-8A8C-AA80DE0BA5EC}" destId="{AA1B2D52-0DD9-4574-AC86-0E9948A9D018}" srcOrd="0" destOrd="0" presId="urn:microsoft.com/office/officeart/2005/8/layout/hProcess9"/>
    <dgm:cxn modelId="{447DA0B9-21F7-4E90-8569-05F7B3C59201}" type="presOf" srcId="{48FCFD40-731A-4096-B6C3-D6AC3EAB1318}" destId="{FCF7B645-C9A6-4B9F-ADDF-7DB903B8EEE1}" srcOrd="0" destOrd="0" presId="urn:microsoft.com/office/officeart/2005/8/layout/hProcess9"/>
    <dgm:cxn modelId="{3FDBD3D4-6AF5-419B-8AA4-E60E2F0BEDEF}" srcId="{A6B8F176-824D-4C72-83CE-0C49DDEF71DF}" destId="{D8D386CB-834F-4FC9-A4D1-C37956F371FE}" srcOrd="4" destOrd="0" parTransId="{731D907E-EA42-42FE-9013-6113C276A280}" sibTransId="{C34CE64F-6077-462D-AAC3-BB98A56285A2}"/>
    <dgm:cxn modelId="{8CAADAD7-624A-41C0-854B-908485828D95}" type="presOf" srcId="{27E23874-E342-483E-86F9-A2A2E6292B30}" destId="{E493BEA9-81A9-42D7-A86D-1B38DA48C0A5}" srcOrd="0" destOrd="0" presId="urn:microsoft.com/office/officeart/2005/8/layout/hProcess9"/>
    <dgm:cxn modelId="{BE8C25D9-1FFA-46B8-8C53-45EAD80AD55F}" srcId="{A6B8F176-824D-4C72-83CE-0C49DDEF71DF}" destId="{5E446CB9-4BD2-4D10-BCF4-018B2268CA72}" srcOrd="1" destOrd="0" parTransId="{04B669AF-0913-4384-8DBB-B3ED9BAF55B7}" sibTransId="{67498971-2DF6-429A-8708-8AF85C5CFBFF}"/>
    <dgm:cxn modelId="{49BFADDC-4D0D-4BB6-A327-D8F80CF8469B}" type="presOf" srcId="{D8D386CB-834F-4FC9-A4D1-C37956F371FE}" destId="{4EC2C0A4-DEDB-44A4-99AD-9194356F7C0B}" srcOrd="0" destOrd="0" presId="urn:microsoft.com/office/officeart/2005/8/layout/hProcess9"/>
    <dgm:cxn modelId="{7B0C47FC-4B1F-471C-8DD7-A761C7584A3D}" type="presOf" srcId="{BE786F76-4CAA-4D1A-9EF8-F1333375CE85}" destId="{1EA5DE48-B8C1-457D-ABA7-763E61A4BFB7}" srcOrd="0" destOrd="0" presId="urn:microsoft.com/office/officeart/2005/8/layout/hProcess9"/>
    <dgm:cxn modelId="{8C981F00-04BD-4EA7-87CF-F87EAED02615}" type="presParOf" srcId="{B570F8B9-2C84-45D1-9449-9ADD73BF6C50}" destId="{351B1079-4DAB-4082-8059-59255AE040A0}" srcOrd="0" destOrd="0" presId="urn:microsoft.com/office/officeart/2005/8/layout/hProcess9"/>
    <dgm:cxn modelId="{EE480298-3842-4A24-A5F3-624F35F8BC9A}" type="presParOf" srcId="{B570F8B9-2C84-45D1-9449-9ADD73BF6C50}" destId="{69583E19-E93B-48B3-9386-7FC3B6C31736}" srcOrd="1" destOrd="0" presId="urn:microsoft.com/office/officeart/2005/8/layout/hProcess9"/>
    <dgm:cxn modelId="{91AB5E16-1040-4725-92AD-BAA3F05FDF48}" type="presParOf" srcId="{69583E19-E93B-48B3-9386-7FC3B6C31736}" destId="{E493BEA9-81A9-42D7-A86D-1B38DA48C0A5}" srcOrd="0" destOrd="0" presId="urn:microsoft.com/office/officeart/2005/8/layout/hProcess9"/>
    <dgm:cxn modelId="{18088E87-5761-4621-9F18-75F9291485C7}" type="presParOf" srcId="{69583E19-E93B-48B3-9386-7FC3B6C31736}" destId="{BBFFB0D4-0192-47E4-B962-CA9947904E4F}" srcOrd="1" destOrd="0" presId="urn:microsoft.com/office/officeart/2005/8/layout/hProcess9"/>
    <dgm:cxn modelId="{7BAF4E74-25C4-4108-9517-CC8C84F55DC3}" type="presParOf" srcId="{69583E19-E93B-48B3-9386-7FC3B6C31736}" destId="{B96D97C4-6173-4730-9DE6-78726A143520}" srcOrd="2" destOrd="0" presId="urn:microsoft.com/office/officeart/2005/8/layout/hProcess9"/>
    <dgm:cxn modelId="{A5673AD2-7BC7-42FD-AC31-1AEEFDD0D886}" type="presParOf" srcId="{69583E19-E93B-48B3-9386-7FC3B6C31736}" destId="{0B4C3D0A-E86A-4C5E-B22F-5C24472E708C}" srcOrd="3" destOrd="0" presId="urn:microsoft.com/office/officeart/2005/8/layout/hProcess9"/>
    <dgm:cxn modelId="{3AC53964-16DB-4B29-96EF-2F666140F458}" type="presParOf" srcId="{69583E19-E93B-48B3-9386-7FC3B6C31736}" destId="{AA1B2D52-0DD9-4574-AC86-0E9948A9D018}" srcOrd="4" destOrd="0" presId="urn:microsoft.com/office/officeart/2005/8/layout/hProcess9"/>
    <dgm:cxn modelId="{BE8DDA3B-59BF-42D4-9B00-FDD0AAEF7C88}" type="presParOf" srcId="{69583E19-E93B-48B3-9386-7FC3B6C31736}" destId="{97BF45FB-E184-4BE7-88F1-51CA6D621729}" srcOrd="5" destOrd="0" presId="urn:microsoft.com/office/officeart/2005/8/layout/hProcess9"/>
    <dgm:cxn modelId="{B12A8864-C5A8-4182-8F31-63E6B95E0F9E}" type="presParOf" srcId="{69583E19-E93B-48B3-9386-7FC3B6C31736}" destId="{4CD8C469-6229-4359-AE52-C31BBA24B411}" srcOrd="6" destOrd="0" presId="urn:microsoft.com/office/officeart/2005/8/layout/hProcess9"/>
    <dgm:cxn modelId="{0C4D9DEE-8941-4E6E-AA8E-F50E21322494}" type="presParOf" srcId="{69583E19-E93B-48B3-9386-7FC3B6C31736}" destId="{09113677-A132-4C94-A71B-50BE9BA6AE86}" srcOrd="7" destOrd="0" presId="urn:microsoft.com/office/officeart/2005/8/layout/hProcess9"/>
    <dgm:cxn modelId="{33C2AAF2-13E6-40BD-A578-815AC0B73EB2}" type="presParOf" srcId="{69583E19-E93B-48B3-9386-7FC3B6C31736}" destId="{4EC2C0A4-DEDB-44A4-99AD-9194356F7C0B}" srcOrd="8" destOrd="0" presId="urn:microsoft.com/office/officeart/2005/8/layout/hProcess9"/>
    <dgm:cxn modelId="{E5021E65-3079-4095-ACDD-307654ED2151}" type="presParOf" srcId="{69583E19-E93B-48B3-9386-7FC3B6C31736}" destId="{2E57C23C-06E9-418E-8FB1-6734C5DF5A89}" srcOrd="9" destOrd="0" presId="urn:microsoft.com/office/officeart/2005/8/layout/hProcess9"/>
    <dgm:cxn modelId="{F490AC39-5A26-48AE-9B6D-9E911903FF2B}" type="presParOf" srcId="{69583E19-E93B-48B3-9386-7FC3B6C31736}" destId="{FCF7B645-C9A6-4B9F-ADDF-7DB903B8EEE1}" srcOrd="10" destOrd="0" presId="urn:microsoft.com/office/officeart/2005/8/layout/hProcess9"/>
    <dgm:cxn modelId="{8CC0866B-08D5-44CF-956F-AC07D0AA1199}" type="presParOf" srcId="{69583E19-E93B-48B3-9386-7FC3B6C31736}" destId="{F07B75CD-0653-4C7A-8D14-FA0A8F30A938}" srcOrd="11" destOrd="0" presId="urn:microsoft.com/office/officeart/2005/8/layout/hProcess9"/>
    <dgm:cxn modelId="{00462AEF-2B44-49E3-A543-47A86A5E5AF3}" type="presParOf" srcId="{69583E19-E93B-48B3-9386-7FC3B6C31736}" destId="{1EA5DE48-B8C1-457D-ABA7-763E61A4BFB7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CE81A1-79C6-4DC4-BC5D-BE134675234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PA"/>
        </a:p>
      </dgm:t>
    </dgm:pt>
    <dgm:pt modelId="{E655673A-87CE-4F0C-A5F8-DC5887757540}">
      <dgm:prSet phldrT="[Texto]" custT="1"/>
      <dgm:spPr/>
      <dgm:t>
        <a:bodyPr/>
        <a:lstStyle/>
        <a:p>
          <a:r>
            <a:rPr lang="es-ES" sz="2500" b="1" dirty="0"/>
            <a:t>DSA</a:t>
          </a:r>
          <a:endParaRPr lang="es-PA" sz="2500" b="1" dirty="0"/>
        </a:p>
      </dgm:t>
    </dgm:pt>
    <dgm:pt modelId="{ED225023-0586-42CE-BCD0-1DDBC8F0E05F}" type="parTrans" cxnId="{DEDDBC63-CE1E-4385-BEB6-4DEB701FB156}">
      <dgm:prSet/>
      <dgm:spPr/>
      <dgm:t>
        <a:bodyPr/>
        <a:lstStyle/>
        <a:p>
          <a:endParaRPr lang="es-PA"/>
        </a:p>
      </dgm:t>
    </dgm:pt>
    <dgm:pt modelId="{2961191C-FFAB-41B9-9A6F-9F2383BA8332}" type="sibTrans" cxnId="{DEDDBC63-CE1E-4385-BEB6-4DEB701FB156}">
      <dgm:prSet/>
      <dgm:spPr/>
      <dgm:t>
        <a:bodyPr/>
        <a:lstStyle/>
        <a:p>
          <a:endParaRPr lang="es-PA"/>
        </a:p>
      </dgm:t>
    </dgm:pt>
    <dgm:pt modelId="{0402A971-9D55-485F-942D-0FA05FE30701}">
      <dgm:prSet phldrT="[Texto]"/>
      <dgm:spPr/>
      <dgm:t>
        <a:bodyPr/>
        <a:lstStyle/>
        <a:p>
          <a:endParaRPr lang="es-PA" dirty="0"/>
        </a:p>
      </dgm:t>
    </dgm:pt>
    <dgm:pt modelId="{0A11CDFF-153A-4DCC-BA46-2A6113FD09B3}" type="parTrans" cxnId="{23FB393E-843E-4F3C-8038-ABE196BE56E8}">
      <dgm:prSet/>
      <dgm:spPr/>
      <dgm:t>
        <a:bodyPr/>
        <a:lstStyle/>
        <a:p>
          <a:endParaRPr lang="es-PA"/>
        </a:p>
      </dgm:t>
    </dgm:pt>
    <dgm:pt modelId="{91093522-3371-4ECB-8B2A-48A8160405A2}" type="sibTrans" cxnId="{23FB393E-843E-4F3C-8038-ABE196BE56E8}">
      <dgm:prSet/>
      <dgm:spPr/>
      <dgm:t>
        <a:bodyPr/>
        <a:lstStyle/>
        <a:p>
          <a:endParaRPr lang="es-PA"/>
        </a:p>
      </dgm:t>
    </dgm:pt>
    <dgm:pt modelId="{52E42BAD-94FE-4EB5-BC6D-4AA41FCED8FB}">
      <dgm:prSet phldrT="[Texto]"/>
      <dgm:spPr/>
      <dgm:t>
        <a:bodyPr/>
        <a:lstStyle/>
        <a:p>
          <a:r>
            <a:rPr lang="es-ES" dirty="0"/>
            <a:t>DSA, conocido como Digital </a:t>
          </a:r>
          <a:r>
            <a:rPr lang="es-ES" dirty="0" err="1"/>
            <a:t>Signature</a:t>
          </a:r>
          <a:r>
            <a:rPr lang="es-ES" dirty="0"/>
            <a:t> </a:t>
          </a:r>
          <a:r>
            <a:rPr lang="es-ES" dirty="0" err="1"/>
            <a:t>Algorithm</a:t>
          </a:r>
          <a:r>
            <a:rPr lang="es-ES" dirty="0"/>
            <a:t>. Se encuentra limitado a la generación de 512 y 1024 bits.</a:t>
          </a:r>
          <a:endParaRPr lang="es-PA" dirty="0"/>
        </a:p>
      </dgm:t>
    </dgm:pt>
    <dgm:pt modelId="{C01D5DBF-E935-4B11-8E19-080AA75124F2}" type="parTrans" cxnId="{996F22D1-430B-4ED4-AA6A-27D1FFF150D3}">
      <dgm:prSet/>
      <dgm:spPr/>
      <dgm:t>
        <a:bodyPr/>
        <a:lstStyle/>
        <a:p>
          <a:endParaRPr lang="es-PA"/>
        </a:p>
      </dgm:t>
    </dgm:pt>
    <dgm:pt modelId="{A9A07F14-5354-4B52-B7F5-5FDD897FC66E}" type="sibTrans" cxnId="{996F22D1-430B-4ED4-AA6A-27D1FFF150D3}">
      <dgm:prSet/>
      <dgm:spPr/>
      <dgm:t>
        <a:bodyPr/>
        <a:lstStyle/>
        <a:p>
          <a:endParaRPr lang="es-PA"/>
        </a:p>
      </dgm:t>
    </dgm:pt>
    <dgm:pt modelId="{2067B7EE-38C4-4C8F-A9C1-9119FCEBDBD3}">
      <dgm:prSet phldrT="[Texto]" custT="1"/>
      <dgm:spPr/>
      <dgm:t>
        <a:bodyPr/>
        <a:lstStyle/>
        <a:p>
          <a:r>
            <a:rPr lang="es-ES" sz="2500" b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RSA</a:t>
          </a:r>
          <a:endParaRPr lang="es-PA" sz="2500" b="1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B7627427-B6C3-4918-8B71-E5897F563131}" type="parTrans" cxnId="{F998CA70-91FC-4079-9F17-DE713DA88C69}">
      <dgm:prSet/>
      <dgm:spPr/>
      <dgm:t>
        <a:bodyPr/>
        <a:lstStyle/>
        <a:p>
          <a:endParaRPr lang="es-PA"/>
        </a:p>
      </dgm:t>
    </dgm:pt>
    <dgm:pt modelId="{113B022C-0A86-4EBA-94EE-76D6071F655F}" type="sibTrans" cxnId="{F998CA70-91FC-4079-9F17-DE713DA88C69}">
      <dgm:prSet/>
      <dgm:spPr/>
      <dgm:t>
        <a:bodyPr/>
        <a:lstStyle/>
        <a:p>
          <a:endParaRPr lang="es-PA"/>
        </a:p>
      </dgm:t>
    </dgm:pt>
    <dgm:pt modelId="{DF8BEAF3-AFE0-4399-8451-E9292CB057CB}">
      <dgm:prSet phldrT="[Texto]"/>
      <dgm:spPr/>
      <dgm:t>
        <a:bodyPr/>
        <a:lstStyle/>
        <a:p>
          <a:r>
            <a:rPr lang="es-ES" dirty="0"/>
            <a:t>Su nombre es debido a sus creadores Ron Rivest, </a:t>
          </a:r>
          <a:r>
            <a:rPr lang="es-ES" dirty="0" err="1"/>
            <a:t>Adi</a:t>
          </a:r>
          <a:r>
            <a:rPr lang="es-ES" dirty="0"/>
            <a:t> Shamir y Leonard Adleman. Es el más utilizado y soportado ya que no está limitado a 1024 bits, lo que le hace ser más seguro para la firma digital que DSA.</a:t>
          </a:r>
          <a:r>
            <a:rPr lang="es-PA" dirty="0"/>
            <a:t> </a:t>
          </a:r>
        </a:p>
      </dgm:t>
    </dgm:pt>
    <dgm:pt modelId="{CB01C7D5-FC2B-46BD-B67C-CDD38FF91AD7}" type="parTrans" cxnId="{7267D62D-D5FE-4D9B-A466-EE4D2D047F2D}">
      <dgm:prSet/>
      <dgm:spPr/>
      <dgm:t>
        <a:bodyPr/>
        <a:lstStyle/>
        <a:p>
          <a:endParaRPr lang="es-PA"/>
        </a:p>
      </dgm:t>
    </dgm:pt>
    <dgm:pt modelId="{50E78B62-DCC6-44DF-B0B8-DB93A1C7FE0D}" type="sibTrans" cxnId="{7267D62D-D5FE-4D9B-A466-EE4D2D047F2D}">
      <dgm:prSet/>
      <dgm:spPr/>
      <dgm:t>
        <a:bodyPr/>
        <a:lstStyle/>
        <a:p>
          <a:endParaRPr lang="es-PA"/>
        </a:p>
      </dgm:t>
    </dgm:pt>
    <dgm:pt modelId="{D784DB12-5465-4024-9EEB-A653728D90DB}">
      <dgm:prSet phldrT="[Texto]" custT="1"/>
      <dgm:spPr/>
      <dgm:t>
        <a:bodyPr/>
        <a:lstStyle/>
        <a:p>
          <a:r>
            <a:rPr lang="es-ES" sz="2500" b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ECDSA</a:t>
          </a:r>
          <a:endParaRPr lang="es-PA" sz="2500" b="1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A8ED32A4-F5DA-4154-A202-7AE20CC0CCB9}" type="parTrans" cxnId="{E702D8EC-3511-487E-B257-EE21F30C9C2E}">
      <dgm:prSet/>
      <dgm:spPr/>
      <dgm:t>
        <a:bodyPr/>
        <a:lstStyle/>
        <a:p>
          <a:endParaRPr lang="es-PA"/>
        </a:p>
      </dgm:t>
    </dgm:pt>
    <dgm:pt modelId="{68CE308F-D5B1-444E-8B6B-C6E76EB4095B}" type="sibTrans" cxnId="{E702D8EC-3511-487E-B257-EE21F30C9C2E}">
      <dgm:prSet/>
      <dgm:spPr/>
      <dgm:t>
        <a:bodyPr/>
        <a:lstStyle/>
        <a:p>
          <a:endParaRPr lang="es-PA"/>
        </a:p>
      </dgm:t>
    </dgm:pt>
    <dgm:pt modelId="{C8DFE397-E29F-4F8C-9036-4155D46FE327}">
      <dgm:prSet phldrT="[Texto]"/>
      <dgm:spPr/>
      <dgm:t>
        <a:bodyPr/>
        <a:lstStyle/>
        <a:p>
          <a:r>
            <a:rPr lang="es-ES" dirty="0"/>
            <a:t>Conocido como </a:t>
          </a:r>
          <a:r>
            <a:rPr lang="es-ES" dirty="0" err="1"/>
            <a:t>Elliptic</a:t>
          </a:r>
          <a:r>
            <a:rPr lang="es-ES" dirty="0"/>
            <a:t> Curve Digital </a:t>
          </a:r>
          <a:r>
            <a:rPr lang="es-ES" dirty="0" err="1"/>
            <a:t>Signature</a:t>
          </a:r>
          <a:r>
            <a:rPr lang="es-ES" dirty="0"/>
            <a:t> </a:t>
          </a:r>
          <a:r>
            <a:rPr lang="es-ES" dirty="0" err="1"/>
            <a:t>Algorithm</a:t>
          </a:r>
          <a:r>
            <a:rPr lang="es-ES" dirty="0"/>
            <a:t>. Es más reciente que el RSA. Es más seguro que el RSA. Al tener claves más pequeñas también es mejor algoritmo ya que mejora el rendimiento de las aplicaciones de cifrado y firma digital.</a:t>
          </a:r>
          <a:endParaRPr lang="es-PA" dirty="0"/>
        </a:p>
      </dgm:t>
    </dgm:pt>
    <dgm:pt modelId="{009F9667-1D5D-487C-9320-D096E64D44C4}" type="parTrans" cxnId="{73AE302B-9291-4AC1-82A8-635C446D3DF1}">
      <dgm:prSet/>
      <dgm:spPr/>
      <dgm:t>
        <a:bodyPr/>
        <a:lstStyle/>
        <a:p>
          <a:endParaRPr lang="es-PA"/>
        </a:p>
      </dgm:t>
    </dgm:pt>
    <dgm:pt modelId="{7DB363E6-8D40-4A5D-9D61-530E4E9298A4}" type="sibTrans" cxnId="{73AE302B-9291-4AC1-82A8-635C446D3DF1}">
      <dgm:prSet/>
      <dgm:spPr/>
      <dgm:t>
        <a:bodyPr/>
        <a:lstStyle/>
        <a:p>
          <a:endParaRPr lang="es-PA"/>
        </a:p>
      </dgm:t>
    </dgm:pt>
    <dgm:pt modelId="{4B1CCC87-DAA2-4886-8B5E-DCCDB07D5184}">
      <dgm:prSet/>
      <dgm:spPr/>
      <dgm:t>
        <a:bodyPr/>
        <a:lstStyle/>
        <a:p>
          <a:r>
            <a:rPr lang="es-PA" dirty="0"/>
            <a:t>Se utiliza para firma digital y para cifrar y descifrar datos</a:t>
          </a:r>
        </a:p>
      </dgm:t>
    </dgm:pt>
    <dgm:pt modelId="{8A4E2DC7-C700-4170-8E9A-5C1D43CC00D0}" type="parTrans" cxnId="{1EBFC934-4032-41A7-8DE4-98F82E00C023}">
      <dgm:prSet/>
      <dgm:spPr/>
      <dgm:t>
        <a:bodyPr/>
        <a:lstStyle/>
        <a:p>
          <a:endParaRPr lang="es-PA"/>
        </a:p>
      </dgm:t>
    </dgm:pt>
    <dgm:pt modelId="{32754A97-B4D9-40AD-A3AD-AEC93768A0AC}" type="sibTrans" cxnId="{1EBFC934-4032-41A7-8DE4-98F82E00C023}">
      <dgm:prSet/>
      <dgm:spPr/>
      <dgm:t>
        <a:bodyPr/>
        <a:lstStyle/>
        <a:p>
          <a:endParaRPr lang="es-PA"/>
        </a:p>
      </dgm:t>
    </dgm:pt>
    <dgm:pt modelId="{873FEAA5-666A-43BD-8F43-D02B6130E544}">
      <dgm:prSet/>
      <dgm:spPr/>
      <dgm:t>
        <a:bodyPr/>
        <a:lstStyle/>
        <a:p>
          <a:r>
            <a:rPr lang="es-ES" dirty="0"/>
            <a:t>Se utiliza para la firma digital y verificación de firma.</a:t>
          </a:r>
          <a:endParaRPr lang="es-PA" dirty="0"/>
        </a:p>
      </dgm:t>
    </dgm:pt>
    <dgm:pt modelId="{57C92C7D-00D5-4255-9AC5-124D3E6AAFF7}" type="parTrans" cxnId="{5757790A-6A6A-46AF-BFE5-4011DEC63D71}">
      <dgm:prSet/>
      <dgm:spPr/>
      <dgm:t>
        <a:bodyPr/>
        <a:lstStyle/>
        <a:p>
          <a:endParaRPr lang="es-PA"/>
        </a:p>
      </dgm:t>
    </dgm:pt>
    <dgm:pt modelId="{9AB633F7-AD56-43C2-ABC5-5211FA3F5571}" type="sibTrans" cxnId="{5757790A-6A6A-46AF-BFE5-4011DEC63D71}">
      <dgm:prSet/>
      <dgm:spPr/>
      <dgm:t>
        <a:bodyPr/>
        <a:lstStyle/>
        <a:p>
          <a:endParaRPr lang="es-PA"/>
        </a:p>
      </dgm:t>
    </dgm:pt>
    <dgm:pt modelId="{79F028C0-7C46-473E-BC10-E4E7DEED8A64}" type="pres">
      <dgm:prSet presAssocID="{34CE81A1-79C6-4DC4-BC5D-BE134675234C}" presName="Name0" presStyleCnt="0">
        <dgm:presLayoutVars>
          <dgm:dir/>
          <dgm:animLvl val="lvl"/>
          <dgm:resizeHandles val="exact"/>
        </dgm:presLayoutVars>
      </dgm:prSet>
      <dgm:spPr/>
    </dgm:pt>
    <dgm:pt modelId="{259CB56A-B897-40F5-9F54-0A53C6B64BF3}" type="pres">
      <dgm:prSet presAssocID="{E655673A-87CE-4F0C-A5F8-DC5887757540}" presName="composite" presStyleCnt="0"/>
      <dgm:spPr/>
    </dgm:pt>
    <dgm:pt modelId="{F8A82777-1BB2-425F-BA18-33D40D379853}" type="pres">
      <dgm:prSet presAssocID="{E655673A-87CE-4F0C-A5F8-DC588775754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03087C7-7259-4C0B-9E3D-171E5F9D5321}" type="pres">
      <dgm:prSet presAssocID="{E655673A-87CE-4F0C-A5F8-DC5887757540}" presName="desTx" presStyleLbl="alignAccFollowNode1" presStyleIdx="0" presStyleCnt="3">
        <dgm:presLayoutVars>
          <dgm:bulletEnabled val="1"/>
        </dgm:presLayoutVars>
      </dgm:prSet>
      <dgm:spPr/>
    </dgm:pt>
    <dgm:pt modelId="{9B1F592E-04FF-4E86-9C0F-8A8BA01FF81F}" type="pres">
      <dgm:prSet presAssocID="{2961191C-FFAB-41B9-9A6F-9F2383BA8332}" presName="space" presStyleCnt="0"/>
      <dgm:spPr/>
    </dgm:pt>
    <dgm:pt modelId="{357EBD28-1538-4A11-9736-83E1EFBFB3B7}" type="pres">
      <dgm:prSet presAssocID="{2067B7EE-38C4-4C8F-A9C1-9119FCEBDBD3}" presName="composite" presStyleCnt="0"/>
      <dgm:spPr/>
    </dgm:pt>
    <dgm:pt modelId="{302455A2-C8AA-4E9D-8441-B78508CDFC98}" type="pres">
      <dgm:prSet presAssocID="{2067B7EE-38C4-4C8F-A9C1-9119FCEBDBD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F738180-3649-4095-9BC8-AD653D348474}" type="pres">
      <dgm:prSet presAssocID="{2067B7EE-38C4-4C8F-A9C1-9119FCEBDBD3}" presName="desTx" presStyleLbl="alignAccFollowNode1" presStyleIdx="1" presStyleCnt="3">
        <dgm:presLayoutVars>
          <dgm:bulletEnabled val="1"/>
        </dgm:presLayoutVars>
      </dgm:prSet>
      <dgm:spPr/>
    </dgm:pt>
    <dgm:pt modelId="{A30C89D8-C7EC-42B4-9722-39E36B735883}" type="pres">
      <dgm:prSet presAssocID="{113B022C-0A86-4EBA-94EE-76D6071F655F}" presName="space" presStyleCnt="0"/>
      <dgm:spPr/>
    </dgm:pt>
    <dgm:pt modelId="{9CA655EE-3FDA-4DCE-96F7-2710792EEAC7}" type="pres">
      <dgm:prSet presAssocID="{D784DB12-5465-4024-9EEB-A653728D90DB}" presName="composite" presStyleCnt="0"/>
      <dgm:spPr/>
    </dgm:pt>
    <dgm:pt modelId="{72D8A770-05CD-489D-83EA-E6FB809D3407}" type="pres">
      <dgm:prSet presAssocID="{D784DB12-5465-4024-9EEB-A653728D90D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285DC2F-23B3-4B44-AAC2-3AAE29F44100}" type="pres">
      <dgm:prSet presAssocID="{D784DB12-5465-4024-9EEB-A653728D90D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757790A-6A6A-46AF-BFE5-4011DEC63D71}" srcId="{E655673A-87CE-4F0C-A5F8-DC5887757540}" destId="{873FEAA5-666A-43BD-8F43-D02B6130E544}" srcOrd="2" destOrd="0" parTransId="{57C92C7D-00D5-4255-9AC5-124D3E6AAFF7}" sibTransId="{9AB633F7-AD56-43C2-ABC5-5211FA3F5571}"/>
    <dgm:cxn modelId="{BD9F4F19-560E-4F4D-93EC-CAF5149EF7F3}" type="presOf" srcId="{DF8BEAF3-AFE0-4399-8451-E9292CB057CB}" destId="{EF738180-3649-4095-9BC8-AD653D348474}" srcOrd="0" destOrd="0" presId="urn:microsoft.com/office/officeart/2005/8/layout/hList1"/>
    <dgm:cxn modelId="{73AE302B-9291-4AC1-82A8-635C446D3DF1}" srcId="{D784DB12-5465-4024-9EEB-A653728D90DB}" destId="{C8DFE397-E29F-4F8C-9036-4155D46FE327}" srcOrd="0" destOrd="0" parTransId="{009F9667-1D5D-487C-9320-D096E64D44C4}" sibTransId="{7DB363E6-8D40-4A5D-9D61-530E4E9298A4}"/>
    <dgm:cxn modelId="{7267D62D-D5FE-4D9B-A466-EE4D2D047F2D}" srcId="{2067B7EE-38C4-4C8F-A9C1-9119FCEBDBD3}" destId="{DF8BEAF3-AFE0-4399-8451-E9292CB057CB}" srcOrd="0" destOrd="0" parTransId="{CB01C7D5-FC2B-46BD-B67C-CDD38FF91AD7}" sibTransId="{50E78B62-DCC6-44DF-B0B8-DB93A1C7FE0D}"/>
    <dgm:cxn modelId="{805C0E30-7B7A-44DB-9725-E133EE2606E9}" type="presOf" srcId="{E655673A-87CE-4F0C-A5F8-DC5887757540}" destId="{F8A82777-1BB2-425F-BA18-33D40D379853}" srcOrd="0" destOrd="0" presId="urn:microsoft.com/office/officeart/2005/8/layout/hList1"/>
    <dgm:cxn modelId="{1EBFC934-4032-41A7-8DE4-98F82E00C023}" srcId="{2067B7EE-38C4-4C8F-A9C1-9119FCEBDBD3}" destId="{4B1CCC87-DAA2-4886-8B5E-DCCDB07D5184}" srcOrd="1" destOrd="0" parTransId="{8A4E2DC7-C700-4170-8E9A-5C1D43CC00D0}" sibTransId="{32754A97-B4D9-40AD-A3AD-AEC93768A0AC}"/>
    <dgm:cxn modelId="{65F8223E-E6DC-4F21-B691-5BFCCF5BB72D}" type="presOf" srcId="{C8DFE397-E29F-4F8C-9036-4155D46FE327}" destId="{4285DC2F-23B3-4B44-AAC2-3AAE29F44100}" srcOrd="0" destOrd="0" presId="urn:microsoft.com/office/officeart/2005/8/layout/hList1"/>
    <dgm:cxn modelId="{23FB393E-843E-4F3C-8038-ABE196BE56E8}" srcId="{E655673A-87CE-4F0C-A5F8-DC5887757540}" destId="{0402A971-9D55-485F-942D-0FA05FE30701}" srcOrd="0" destOrd="0" parTransId="{0A11CDFF-153A-4DCC-BA46-2A6113FD09B3}" sibTransId="{91093522-3371-4ECB-8B2A-48A8160405A2}"/>
    <dgm:cxn modelId="{82F80141-25CE-4201-9BE5-BA0114E98A26}" type="presOf" srcId="{34CE81A1-79C6-4DC4-BC5D-BE134675234C}" destId="{79F028C0-7C46-473E-BC10-E4E7DEED8A64}" srcOrd="0" destOrd="0" presId="urn:microsoft.com/office/officeart/2005/8/layout/hList1"/>
    <dgm:cxn modelId="{DEDDBC63-CE1E-4385-BEB6-4DEB701FB156}" srcId="{34CE81A1-79C6-4DC4-BC5D-BE134675234C}" destId="{E655673A-87CE-4F0C-A5F8-DC5887757540}" srcOrd="0" destOrd="0" parTransId="{ED225023-0586-42CE-BCD0-1DDBC8F0E05F}" sibTransId="{2961191C-FFAB-41B9-9A6F-9F2383BA8332}"/>
    <dgm:cxn modelId="{58886345-3AF7-4D57-AF8F-9FD16A1E9983}" type="presOf" srcId="{D784DB12-5465-4024-9EEB-A653728D90DB}" destId="{72D8A770-05CD-489D-83EA-E6FB809D3407}" srcOrd="0" destOrd="0" presId="urn:microsoft.com/office/officeart/2005/8/layout/hList1"/>
    <dgm:cxn modelId="{F998CA70-91FC-4079-9F17-DE713DA88C69}" srcId="{34CE81A1-79C6-4DC4-BC5D-BE134675234C}" destId="{2067B7EE-38C4-4C8F-A9C1-9119FCEBDBD3}" srcOrd="1" destOrd="0" parTransId="{B7627427-B6C3-4918-8B71-E5897F563131}" sibTransId="{113B022C-0A86-4EBA-94EE-76D6071F655F}"/>
    <dgm:cxn modelId="{EF710280-B133-45B6-B736-DB5F31276A1A}" type="presOf" srcId="{52E42BAD-94FE-4EB5-BC6D-4AA41FCED8FB}" destId="{D03087C7-7259-4C0B-9E3D-171E5F9D5321}" srcOrd="0" destOrd="1" presId="urn:microsoft.com/office/officeart/2005/8/layout/hList1"/>
    <dgm:cxn modelId="{BA1E5998-AF9C-4856-BDE7-9C8E3094ED80}" type="presOf" srcId="{2067B7EE-38C4-4C8F-A9C1-9119FCEBDBD3}" destId="{302455A2-C8AA-4E9D-8441-B78508CDFC98}" srcOrd="0" destOrd="0" presId="urn:microsoft.com/office/officeart/2005/8/layout/hList1"/>
    <dgm:cxn modelId="{7462479A-104A-400E-96A9-847647DFDA49}" type="presOf" srcId="{4B1CCC87-DAA2-4886-8B5E-DCCDB07D5184}" destId="{EF738180-3649-4095-9BC8-AD653D348474}" srcOrd="0" destOrd="1" presId="urn:microsoft.com/office/officeart/2005/8/layout/hList1"/>
    <dgm:cxn modelId="{996F22D1-430B-4ED4-AA6A-27D1FFF150D3}" srcId="{E655673A-87CE-4F0C-A5F8-DC5887757540}" destId="{52E42BAD-94FE-4EB5-BC6D-4AA41FCED8FB}" srcOrd="1" destOrd="0" parTransId="{C01D5DBF-E935-4B11-8E19-080AA75124F2}" sibTransId="{A9A07F14-5354-4B52-B7F5-5FDD897FC66E}"/>
    <dgm:cxn modelId="{5CFEA0D8-F93D-45EE-80D4-98ADC13263EC}" type="presOf" srcId="{0402A971-9D55-485F-942D-0FA05FE30701}" destId="{D03087C7-7259-4C0B-9E3D-171E5F9D5321}" srcOrd="0" destOrd="0" presId="urn:microsoft.com/office/officeart/2005/8/layout/hList1"/>
    <dgm:cxn modelId="{6A4F09E7-4946-4E0E-91B0-B50DD4E65D80}" type="presOf" srcId="{873FEAA5-666A-43BD-8F43-D02B6130E544}" destId="{D03087C7-7259-4C0B-9E3D-171E5F9D5321}" srcOrd="0" destOrd="2" presId="urn:microsoft.com/office/officeart/2005/8/layout/hList1"/>
    <dgm:cxn modelId="{E702D8EC-3511-487E-B257-EE21F30C9C2E}" srcId="{34CE81A1-79C6-4DC4-BC5D-BE134675234C}" destId="{D784DB12-5465-4024-9EEB-A653728D90DB}" srcOrd="2" destOrd="0" parTransId="{A8ED32A4-F5DA-4154-A202-7AE20CC0CCB9}" sibTransId="{68CE308F-D5B1-444E-8B6B-C6E76EB4095B}"/>
    <dgm:cxn modelId="{4FD37672-4890-487F-912B-963F716FE4B6}" type="presParOf" srcId="{79F028C0-7C46-473E-BC10-E4E7DEED8A64}" destId="{259CB56A-B897-40F5-9F54-0A53C6B64BF3}" srcOrd="0" destOrd="0" presId="urn:microsoft.com/office/officeart/2005/8/layout/hList1"/>
    <dgm:cxn modelId="{84080CC8-9737-4F34-9B94-35083EF9B922}" type="presParOf" srcId="{259CB56A-B897-40F5-9F54-0A53C6B64BF3}" destId="{F8A82777-1BB2-425F-BA18-33D40D379853}" srcOrd="0" destOrd="0" presId="urn:microsoft.com/office/officeart/2005/8/layout/hList1"/>
    <dgm:cxn modelId="{F0BE739C-0A18-452E-881D-E4A6D98E0DDC}" type="presParOf" srcId="{259CB56A-B897-40F5-9F54-0A53C6B64BF3}" destId="{D03087C7-7259-4C0B-9E3D-171E5F9D5321}" srcOrd="1" destOrd="0" presId="urn:microsoft.com/office/officeart/2005/8/layout/hList1"/>
    <dgm:cxn modelId="{10671FF7-437F-4305-8C74-3F3AF8420FED}" type="presParOf" srcId="{79F028C0-7C46-473E-BC10-E4E7DEED8A64}" destId="{9B1F592E-04FF-4E86-9C0F-8A8BA01FF81F}" srcOrd="1" destOrd="0" presId="urn:microsoft.com/office/officeart/2005/8/layout/hList1"/>
    <dgm:cxn modelId="{A0B04048-DE9F-4C68-A82E-E945597BEA9D}" type="presParOf" srcId="{79F028C0-7C46-473E-BC10-E4E7DEED8A64}" destId="{357EBD28-1538-4A11-9736-83E1EFBFB3B7}" srcOrd="2" destOrd="0" presId="urn:microsoft.com/office/officeart/2005/8/layout/hList1"/>
    <dgm:cxn modelId="{21ECC54E-B25C-4D8F-BA3D-A428204AA2DF}" type="presParOf" srcId="{357EBD28-1538-4A11-9736-83E1EFBFB3B7}" destId="{302455A2-C8AA-4E9D-8441-B78508CDFC98}" srcOrd="0" destOrd="0" presId="urn:microsoft.com/office/officeart/2005/8/layout/hList1"/>
    <dgm:cxn modelId="{67140F69-5226-4C80-BCDC-C3FBEC056E29}" type="presParOf" srcId="{357EBD28-1538-4A11-9736-83E1EFBFB3B7}" destId="{EF738180-3649-4095-9BC8-AD653D348474}" srcOrd="1" destOrd="0" presId="urn:microsoft.com/office/officeart/2005/8/layout/hList1"/>
    <dgm:cxn modelId="{B2D1DCFB-574F-466F-9069-AB5B460FD0CD}" type="presParOf" srcId="{79F028C0-7C46-473E-BC10-E4E7DEED8A64}" destId="{A30C89D8-C7EC-42B4-9722-39E36B735883}" srcOrd="3" destOrd="0" presId="urn:microsoft.com/office/officeart/2005/8/layout/hList1"/>
    <dgm:cxn modelId="{243A4889-37DF-4CC2-8AC3-4BD6A7AFD4B1}" type="presParOf" srcId="{79F028C0-7C46-473E-BC10-E4E7DEED8A64}" destId="{9CA655EE-3FDA-4DCE-96F7-2710792EEAC7}" srcOrd="4" destOrd="0" presId="urn:microsoft.com/office/officeart/2005/8/layout/hList1"/>
    <dgm:cxn modelId="{70AC88D4-8BB5-4B16-BC8A-AA5EA1489883}" type="presParOf" srcId="{9CA655EE-3FDA-4DCE-96F7-2710792EEAC7}" destId="{72D8A770-05CD-489D-83EA-E6FB809D3407}" srcOrd="0" destOrd="0" presId="urn:microsoft.com/office/officeart/2005/8/layout/hList1"/>
    <dgm:cxn modelId="{63B7E573-CF2E-4A74-803E-B87235B51810}" type="presParOf" srcId="{9CA655EE-3FDA-4DCE-96F7-2710792EEAC7}" destId="{4285DC2F-23B3-4B44-AAC2-3AAE29F4410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B1079-4DAB-4082-8059-59255AE040A0}">
      <dsp:nvSpPr>
        <dsp:cNvPr id="0" name=""/>
        <dsp:cNvSpPr/>
      </dsp:nvSpPr>
      <dsp:spPr>
        <a:xfrm>
          <a:off x="794937" y="0"/>
          <a:ext cx="9009297" cy="4237703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3BEA9-81A9-42D7-A86D-1B38DA48C0A5}">
      <dsp:nvSpPr>
        <dsp:cNvPr id="0" name=""/>
        <dsp:cNvSpPr/>
      </dsp:nvSpPr>
      <dsp:spPr>
        <a:xfrm>
          <a:off x="905" y="1271310"/>
          <a:ext cx="1451693" cy="16950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b="0" i="0" kern="120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Comunicación segura entre clientes y servidores</a:t>
          </a:r>
          <a:endParaRPr lang="es-PA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71" y="1342176"/>
        <a:ext cx="1309961" cy="1553349"/>
      </dsp:txXfrm>
    </dsp:sp>
    <dsp:sp modelId="{B96D97C4-6173-4730-9DE6-78726A143520}">
      <dsp:nvSpPr>
        <dsp:cNvPr id="0" name=""/>
        <dsp:cNvSpPr/>
      </dsp:nvSpPr>
      <dsp:spPr>
        <a:xfrm>
          <a:off x="1525183" y="1271310"/>
          <a:ext cx="1451693" cy="169508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b="0" i="0" kern="12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Cifrado de datos</a:t>
          </a:r>
          <a:endParaRPr lang="es-PA" sz="1800" b="0" i="0" kern="1200" dirty="0">
            <a:effectLst/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1596049" y="1342176"/>
        <a:ext cx="1309961" cy="1553349"/>
      </dsp:txXfrm>
    </dsp:sp>
    <dsp:sp modelId="{AA1B2D52-0DD9-4574-AC86-0E9948A9D018}">
      <dsp:nvSpPr>
        <dsp:cNvPr id="0" name=""/>
        <dsp:cNvSpPr/>
      </dsp:nvSpPr>
      <dsp:spPr>
        <a:xfrm>
          <a:off x="3049461" y="1271310"/>
          <a:ext cx="1451693" cy="169508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b="0" i="0" kern="12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Gestión de certificados</a:t>
          </a:r>
          <a:endParaRPr lang="es-PA" sz="1800" b="0" i="0" kern="1200" dirty="0">
            <a:effectLst/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3120327" y="1342176"/>
        <a:ext cx="1309961" cy="1553349"/>
      </dsp:txXfrm>
    </dsp:sp>
    <dsp:sp modelId="{4CD8C469-6229-4359-AE52-C31BBA24B411}">
      <dsp:nvSpPr>
        <dsp:cNvPr id="0" name=""/>
        <dsp:cNvSpPr/>
      </dsp:nvSpPr>
      <dsp:spPr>
        <a:xfrm>
          <a:off x="4573739" y="1271310"/>
          <a:ext cx="1451693" cy="169508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Integridad de los datos y autenticación</a:t>
          </a:r>
          <a:endParaRPr lang="es-PA" sz="1500" kern="1200" dirty="0"/>
        </a:p>
      </dsp:txBody>
      <dsp:txXfrm>
        <a:off x="4644605" y="1342176"/>
        <a:ext cx="1309961" cy="1553349"/>
      </dsp:txXfrm>
    </dsp:sp>
    <dsp:sp modelId="{4EC2C0A4-DEDB-44A4-99AD-9194356F7C0B}">
      <dsp:nvSpPr>
        <dsp:cNvPr id="0" name=""/>
        <dsp:cNvSpPr/>
      </dsp:nvSpPr>
      <dsp:spPr>
        <a:xfrm>
          <a:off x="6098017" y="1271310"/>
          <a:ext cx="1451693" cy="169508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b="0" i="0" kern="12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Generación de números aleatorios</a:t>
          </a:r>
        </a:p>
      </dsp:txBody>
      <dsp:txXfrm>
        <a:off x="6168883" y="1342176"/>
        <a:ext cx="1309961" cy="1553349"/>
      </dsp:txXfrm>
    </dsp:sp>
    <dsp:sp modelId="{FCF7B645-C9A6-4B9F-ADDF-7DB903B8EEE1}">
      <dsp:nvSpPr>
        <dsp:cNvPr id="0" name=""/>
        <dsp:cNvSpPr/>
      </dsp:nvSpPr>
      <dsp:spPr>
        <a:xfrm>
          <a:off x="7651792" y="1271310"/>
          <a:ext cx="1451693" cy="16950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Protocolos y Algoritmos seguros</a:t>
          </a:r>
          <a:endParaRPr lang="es-PA" sz="1500" kern="1200" dirty="0"/>
        </a:p>
      </dsp:txBody>
      <dsp:txXfrm>
        <a:off x="7722658" y="1342176"/>
        <a:ext cx="1309961" cy="1553349"/>
      </dsp:txXfrm>
    </dsp:sp>
    <dsp:sp modelId="{1EA5DE48-B8C1-457D-ABA7-763E61A4BFB7}">
      <dsp:nvSpPr>
        <dsp:cNvPr id="0" name=""/>
        <dsp:cNvSpPr/>
      </dsp:nvSpPr>
      <dsp:spPr>
        <a:xfrm>
          <a:off x="9146573" y="1271310"/>
          <a:ext cx="1451693" cy="169508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Implantación segura de servidores web</a:t>
          </a:r>
          <a:endParaRPr lang="es-PA" sz="1500" kern="1200" dirty="0"/>
        </a:p>
      </dsp:txBody>
      <dsp:txXfrm>
        <a:off x="9217439" y="1342176"/>
        <a:ext cx="1309961" cy="15533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82777-1BB2-425F-BA18-33D40D379853}">
      <dsp:nvSpPr>
        <dsp:cNvPr id="0" name=""/>
        <dsp:cNvSpPr/>
      </dsp:nvSpPr>
      <dsp:spPr>
        <a:xfrm>
          <a:off x="3203" y="211605"/>
          <a:ext cx="3123835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DSA</a:t>
          </a:r>
          <a:endParaRPr lang="es-PA" sz="2500" b="1" kern="1200" dirty="0"/>
        </a:p>
      </dsp:txBody>
      <dsp:txXfrm>
        <a:off x="3203" y="211605"/>
        <a:ext cx="3123835" cy="604800"/>
      </dsp:txXfrm>
    </dsp:sp>
    <dsp:sp modelId="{D03087C7-7259-4C0B-9E3D-171E5F9D5321}">
      <dsp:nvSpPr>
        <dsp:cNvPr id="0" name=""/>
        <dsp:cNvSpPr/>
      </dsp:nvSpPr>
      <dsp:spPr>
        <a:xfrm>
          <a:off x="3203" y="816405"/>
          <a:ext cx="3123835" cy="417926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PA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/>
            <a:t>DSA, conocido como Digital </a:t>
          </a:r>
          <a:r>
            <a:rPr lang="es-ES" sz="2100" kern="1200" dirty="0" err="1"/>
            <a:t>Signature</a:t>
          </a:r>
          <a:r>
            <a:rPr lang="es-ES" sz="2100" kern="1200" dirty="0"/>
            <a:t> </a:t>
          </a:r>
          <a:r>
            <a:rPr lang="es-ES" sz="2100" kern="1200" dirty="0" err="1"/>
            <a:t>Algorithm</a:t>
          </a:r>
          <a:r>
            <a:rPr lang="es-ES" sz="2100" kern="1200" dirty="0"/>
            <a:t>. Se encuentra limitado a la generación de 512 y 1024 bits.</a:t>
          </a:r>
          <a:endParaRPr lang="es-PA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/>
            <a:t>Se utiliza para la firma digital y verificación de firma.</a:t>
          </a:r>
          <a:endParaRPr lang="es-PA" sz="2100" kern="1200" dirty="0"/>
        </a:p>
      </dsp:txBody>
      <dsp:txXfrm>
        <a:off x="3203" y="816405"/>
        <a:ext cx="3123835" cy="4179262"/>
      </dsp:txXfrm>
    </dsp:sp>
    <dsp:sp modelId="{302455A2-C8AA-4E9D-8441-B78508CDFC98}">
      <dsp:nvSpPr>
        <dsp:cNvPr id="0" name=""/>
        <dsp:cNvSpPr/>
      </dsp:nvSpPr>
      <dsp:spPr>
        <a:xfrm>
          <a:off x="3564375" y="211605"/>
          <a:ext cx="3123835" cy="60480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RSA</a:t>
          </a:r>
          <a:endParaRPr lang="es-PA" sz="2500" b="1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3564375" y="211605"/>
        <a:ext cx="3123835" cy="604800"/>
      </dsp:txXfrm>
    </dsp:sp>
    <dsp:sp modelId="{EF738180-3649-4095-9BC8-AD653D348474}">
      <dsp:nvSpPr>
        <dsp:cNvPr id="0" name=""/>
        <dsp:cNvSpPr/>
      </dsp:nvSpPr>
      <dsp:spPr>
        <a:xfrm>
          <a:off x="3564375" y="816405"/>
          <a:ext cx="3123835" cy="4179262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/>
            <a:t>Su nombre es debido a sus creadores Ron Rivest, </a:t>
          </a:r>
          <a:r>
            <a:rPr lang="es-ES" sz="2100" kern="1200" dirty="0" err="1"/>
            <a:t>Adi</a:t>
          </a:r>
          <a:r>
            <a:rPr lang="es-ES" sz="2100" kern="1200" dirty="0"/>
            <a:t> Shamir y Leonard Adleman. Es el más utilizado y soportado ya que no está limitado a 1024 bits, lo que le hace ser más seguro para la firma digital que DSA.</a:t>
          </a:r>
          <a:r>
            <a:rPr lang="es-PA" sz="2100" kern="1200" dirty="0"/>
            <a:t>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A" sz="2100" kern="1200" dirty="0"/>
            <a:t>Se utiliza para firma digital y para cifrar y descifrar datos</a:t>
          </a:r>
        </a:p>
      </dsp:txBody>
      <dsp:txXfrm>
        <a:off x="3564375" y="816405"/>
        <a:ext cx="3123835" cy="4179262"/>
      </dsp:txXfrm>
    </dsp:sp>
    <dsp:sp modelId="{72D8A770-05CD-489D-83EA-E6FB809D3407}">
      <dsp:nvSpPr>
        <dsp:cNvPr id="0" name=""/>
        <dsp:cNvSpPr/>
      </dsp:nvSpPr>
      <dsp:spPr>
        <a:xfrm>
          <a:off x="7125547" y="211605"/>
          <a:ext cx="3123835" cy="6048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ECDSA</a:t>
          </a:r>
          <a:endParaRPr lang="es-PA" sz="2500" b="1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7125547" y="211605"/>
        <a:ext cx="3123835" cy="604800"/>
      </dsp:txXfrm>
    </dsp:sp>
    <dsp:sp modelId="{4285DC2F-23B3-4B44-AAC2-3AAE29F44100}">
      <dsp:nvSpPr>
        <dsp:cNvPr id="0" name=""/>
        <dsp:cNvSpPr/>
      </dsp:nvSpPr>
      <dsp:spPr>
        <a:xfrm>
          <a:off x="7125547" y="816405"/>
          <a:ext cx="3123835" cy="4179262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/>
            <a:t>Conocido como </a:t>
          </a:r>
          <a:r>
            <a:rPr lang="es-ES" sz="2100" kern="1200" dirty="0" err="1"/>
            <a:t>Elliptic</a:t>
          </a:r>
          <a:r>
            <a:rPr lang="es-ES" sz="2100" kern="1200" dirty="0"/>
            <a:t> Curve Digital </a:t>
          </a:r>
          <a:r>
            <a:rPr lang="es-ES" sz="2100" kern="1200" dirty="0" err="1"/>
            <a:t>Signature</a:t>
          </a:r>
          <a:r>
            <a:rPr lang="es-ES" sz="2100" kern="1200" dirty="0"/>
            <a:t> </a:t>
          </a:r>
          <a:r>
            <a:rPr lang="es-ES" sz="2100" kern="1200" dirty="0" err="1"/>
            <a:t>Algorithm</a:t>
          </a:r>
          <a:r>
            <a:rPr lang="es-ES" sz="2100" kern="1200" dirty="0"/>
            <a:t>. Es más reciente que el RSA. Es más seguro que el RSA. Al tener claves más pequeñas también es mejor algoritmo ya que mejora el rendimiento de las aplicaciones de cifrado y firma digital.</a:t>
          </a:r>
          <a:endParaRPr lang="es-PA" sz="2100" kern="1200" dirty="0"/>
        </a:p>
      </dsp:txBody>
      <dsp:txXfrm>
        <a:off x="7125547" y="816405"/>
        <a:ext cx="3123835" cy="4179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32DD2-EA0C-C807-A985-09225DD63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4D1977-8537-ABE9-70B3-6D36A0E73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9D40E2-B59D-D745-A5AA-0AE461DC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F01F4-1604-153D-88B0-BA2CC4C2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1ED904-03AA-6E16-1477-67F22D25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474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E2ACB-001B-46EC-DA35-61083287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7D1764-8350-2191-FFE3-5407943B3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74B259-F9F1-D4B9-F50B-767B3258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E0CEDC-0E27-4CD6-B710-EC5B55311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A3DC41-0AFB-E672-7016-9651E8B8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68748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06FA1-B265-9867-E20C-E1F2786E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0270D6-0528-95F0-CF99-39C1CF10C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2B99C2-3286-0047-C6F2-B84585DF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2F8D2-6A13-74C8-4670-09EE538F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2FE499-CFD1-F09E-E168-861B1649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34353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D90DE-C2B8-EAE0-8563-D84B5963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204DEF-406A-8446-B3BD-A68C62689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538995-CECB-EC5C-AF4E-B678B8D22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A1A29C-112F-8F2E-298A-E2180B8D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27878F-A3A6-EEE5-221B-C25C8B69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4C8EC2-7A42-FBED-4522-476E9F38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16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01BD2-8189-5223-65DE-15E34C521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CDE1B2-7EA9-EDEB-6944-ADC6CC67C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C26A99-28DE-6DF8-E75B-9625DCA3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7B20F2-88D8-73CE-15FC-0E2B903DB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7373C15-5302-96D1-D6EE-57C8600E4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43745F0-3B25-6BEC-0221-18E8523F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DAE90-331E-84B9-F4A7-6BD80023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9895F4-0FEC-AA51-D03E-E4094B66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08688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213DF-3884-2AB5-107F-E18C92A7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5E8FB2-ABE7-3CEE-C9D4-5931C5A1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4FFEBC-8547-CDDA-CF74-94BAAB3D2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1DEC7E-5436-E2C8-E70F-CC4906C5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19809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B8C9187-B2F3-25AF-E179-B63CB8AF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1A7294-660F-3CFB-7D56-8C758230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2CE9A0-730A-5E96-B991-3290C0B61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8927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B1441-AA0C-1370-B0D0-2AB95C64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FC9CFC-38F0-9FCC-5EB1-E6164347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16E072-39BA-7B48-7454-F3BEBF4D6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913B23-C103-929B-77CE-A381DDD1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7F3B9D-7F6E-56E8-0E5F-81153D49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6382A2-4D03-1F18-DF32-2621DCB7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61442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A9D23-AE22-468A-8358-14D7A2162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E658B9-AC8E-4669-9674-21413142D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10DBFF-6965-8529-AB01-E6848FEB7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B6407F-BB7D-717A-7350-3CE4E886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130E4D-699D-AE37-80F6-6EFB9D74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B3A94-BAB8-F3E6-39A8-4B2955DE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44981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C4A7A-7BA6-F66E-C511-B9494FE6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39BD57-33D1-92F3-6003-D3714562D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D64E5-F585-26F6-3E13-DE6507B8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1A8E70-C485-FFF3-CA70-F0FAD9CFE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B5A7C4-9F7A-0B53-031E-0A41E197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03752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9A953C-BE17-FCE1-511A-982D774EF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E0BB16-2675-7478-2084-DE8FEDD60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C670EE-781B-634E-71B8-5345CC47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7F2F82-95EC-87C7-9519-0A63969B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43D632-64E7-0AB8-E1D9-C441DA03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14572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FD52FF-15A4-687E-8472-30326D13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901BAB-6041-E951-EA57-A47493CFF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0AF63-7F50-07C2-A0D4-CF069CE81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CE725-A27C-481A-9744-FEF806DF01AD}" type="datetimeFigureOut">
              <a:rPr lang="es-PA" smtClean="0"/>
              <a:t>09/28/2025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D82CEC-1E1B-CEAE-1FEC-7EEBF5F97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A97D65-0124-83CB-5006-A0B7BC0DF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B0B3C-180C-4F36-BDA5-3F17A9D044DE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82407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ssl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hoenixnap.com/kb/how-to-check-openssl-version" TargetMode="External"/><Relationship Id="rId2" Type="http://schemas.openxmlformats.org/officeDocument/2006/relationships/hyperlink" Target="https://slproweb.com/products/Win32OpenSSL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redhat.com/en/documentation/red_hat_enterprise_linux/9/html/deploying_web_servers_and_reverse_proxies/setting-apache-http-server_deploying-web-servers-and-reverse-proxies" TargetMode="External"/><Relationship Id="rId2" Type="http://schemas.openxmlformats.org/officeDocument/2006/relationships/hyperlink" Target="https://labex.io/es/tutorials/wireshark-how-to-troubleshoot-common-openssl-errors-in-cybersecurity-415405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75AC9-BA16-BB4C-E15D-40D1930F7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OPENSSL</a:t>
            </a:r>
            <a:endParaRPr lang="es-PA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DEAC13-C336-D322-70E3-E155BB92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3040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b="1" i="0" u="sng" dirty="0">
                <a:solidFill>
                  <a:srgbClr val="0E6EB9"/>
                </a:solidFill>
                <a:effectLst/>
                <a:latin typeface="Proxima"/>
                <a:hlinkClick r:id="rId2"/>
              </a:rPr>
              <a:t>OpenSSL</a:t>
            </a:r>
            <a:r>
              <a:rPr lang="es-ES" b="0" i="0" dirty="0">
                <a:solidFill>
                  <a:srgbClr val="222222"/>
                </a:solidFill>
                <a:effectLst/>
                <a:latin typeface="Proxima"/>
              </a:rPr>
              <a:t> es una biblioteca criptográfica que permite una implementación de código abierto de los protocolos de seguridad de la capa de transporte (TLS) y capa de sockets seguros (SSL). Proporciona funciones para generar claves privadas, administrar certificados y equipar aplicaciones cliente con cifrado y descifrado.</a:t>
            </a:r>
            <a:endParaRPr lang="es-PA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05F658-404E-B582-021F-62454E4C35AF}"/>
              </a:ext>
            </a:extLst>
          </p:cNvPr>
          <p:cNvSpPr txBox="1"/>
          <p:nvPr/>
        </p:nvSpPr>
        <p:spPr>
          <a:xfrm>
            <a:off x="8799871" y="5366305"/>
            <a:ext cx="1566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Ing. Irina Fong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314013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2042C-E0E8-4EFE-6D8B-3ED0AA04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Instalación Recomendada</a:t>
            </a:r>
            <a:endParaRPr lang="es-PA" dirty="0"/>
          </a:p>
        </p:txBody>
      </p:sp>
      <p:pic>
        <p:nvPicPr>
          <p:cNvPr id="5" name="Imagen 4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557221D7-72A4-96EE-514C-59E3D50C2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08" y="2102670"/>
            <a:ext cx="10781881" cy="43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6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DEC15-0C99-22A3-9CAF-DF490778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OPENSSL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E82168-3137-7C41-E901-C88F5D687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792"/>
            <a:ext cx="10515600" cy="3473962"/>
          </a:xfrm>
        </p:spPr>
        <p:txBody>
          <a:bodyPr>
            <a:normAutofit/>
          </a:bodyPr>
          <a:lstStyle/>
          <a:p>
            <a:r>
              <a:rPr lang="es-PA" dirty="0">
                <a:hlinkClick r:id="rId2"/>
              </a:rPr>
              <a:t>https://slproweb.com/products/Win32OpenSSL.html</a:t>
            </a:r>
            <a:endParaRPr lang="es-PA" dirty="0"/>
          </a:p>
          <a:p>
            <a:r>
              <a:rPr lang="es-PA" dirty="0">
                <a:hlinkClick r:id="rId3"/>
              </a:rPr>
              <a:t>https://phoenixnap.com/kb/how-to-check-openssl-version</a:t>
            </a:r>
            <a:endParaRPr lang="es-PA" dirty="0"/>
          </a:p>
          <a:p>
            <a:r>
              <a:rPr lang="es-PA" dirty="0"/>
              <a:t>https://www.youtube.com/watch?v=cBa87N_BZ4s&amp;t=40s</a:t>
            </a:r>
          </a:p>
        </p:txBody>
      </p:sp>
    </p:spTree>
    <p:extLst>
      <p:ext uri="{BB962C8B-B14F-4D97-AF65-F5344CB8AC3E}">
        <p14:creationId xmlns:p14="http://schemas.microsoft.com/office/powerpoint/2010/main" val="3759807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85E8F-8DBA-8134-3880-0FFD37A5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Repositorio de Ejemplos de OpenSSL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47EF14-1FFB-A532-73D6-91068FED3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1265"/>
          </a:xfrm>
        </p:spPr>
        <p:txBody>
          <a:bodyPr/>
          <a:lstStyle/>
          <a:p>
            <a:r>
              <a:rPr lang="es-PA" dirty="0"/>
              <a:t>https://github.com/Salomon2514/SeguridadOpenSSL.git</a:t>
            </a:r>
          </a:p>
        </p:txBody>
      </p:sp>
    </p:spTree>
    <p:extLst>
      <p:ext uri="{BB962C8B-B14F-4D97-AF65-F5344CB8AC3E}">
        <p14:creationId xmlns:p14="http://schemas.microsoft.com/office/powerpoint/2010/main" val="281763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747B6-2540-3B66-A228-C9998129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22282A"/>
                </a:solidFill>
                <a:effectLst/>
                <a:latin typeface="Roboto" panose="02000000000000000000" pitchFamily="2" charset="0"/>
              </a:rPr>
              <a:t>OpenSSL</a:t>
            </a:r>
            <a:endParaRPr lang="es-PA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92D12-0831-6F81-3417-EFD7FD597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23" y="2163967"/>
            <a:ext cx="10515600" cy="2530065"/>
          </a:xfrm>
        </p:spPr>
        <p:txBody>
          <a:bodyPr/>
          <a:lstStyle/>
          <a:p>
            <a:pPr marL="0" indent="0" algn="just">
              <a:buNone/>
            </a:pPr>
            <a:r>
              <a:rPr lang="es-ES" b="0" i="0" dirty="0">
                <a:solidFill>
                  <a:srgbClr val="22282A"/>
                </a:solidFill>
                <a:effectLst/>
                <a:latin typeface="Roboto" panose="02000000000000000000" pitchFamily="2" charset="0"/>
              </a:rPr>
              <a:t>OpenSSL es una biblioteca criptográfica </a:t>
            </a:r>
            <a:r>
              <a:rPr lang="es-ES" b="1" i="0" u="sng" dirty="0">
                <a:solidFill>
                  <a:srgbClr val="0A1D33"/>
                </a:solidFill>
                <a:effectLst/>
                <a:latin typeface="Roboto" panose="02000000000000000000" pitchFamily="2" charset="0"/>
              </a:rPr>
              <a:t>de código abierto y un conjunto de herramientas SSL</a:t>
            </a:r>
            <a:r>
              <a:rPr lang="es-ES" b="0" i="0" dirty="0">
                <a:solidFill>
                  <a:srgbClr val="22282A"/>
                </a:solidFill>
                <a:effectLst/>
                <a:latin typeface="Roboto" panose="02000000000000000000" pitchFamily="2" charset="0"/>
              </a:rPr>
              <a:t> . Las </a:t>
            </a:r>
            <a:r>
              <a:rPr lang="es-ES" b="1" i="0" u="sng" dirty="0">
                <a:solidFill>
                  <a:srgbClr val="0A1D33"/>
                </a:solidFill>
                <a:effectLst/>
                <a:latin typeface="Roboto" panose="02000000000000000000" pitchFamily="2" charset="0"/>
              </a:rPr>
              <a:t>aplicaciones</a:t>
            </a:r>
            <a:r>
              <a:rPr lang="es-ES" b="0" i="0" dirty="0">
                <a:solidFill>
                  <a:srgbClr val="22282A"/>
                </a:solidFill>
                <a:effectLst/>
                <a:latin typeface="Roboto" panose="02000000000000000000" pitchFamily="2" charset="0"/>
              </a:rPr>
              <a:t> que contiene ayudan a crear un entorno de comunicación seguro para redes informáticas. OpenSSL incluye una implementación de </a:t>
            </a:r>
            <a:r>
              <a:rPr lang="es-ES" b="1" i="0" u="sng" dirty="0">
                <a:solidFill>
                  <a:srgbClr val="0A1D33"/>
                </a:solidFill>
                <a:effectLst/>
                <a:latin typeface="Roboto" panose="02000000000000000000" pitchFamily="2" charset="0"/>
              </a:rPr>
              <a:t>los protocolos SSL y TLS</a:t>
            </a:r>
            <a:r>
              <a:rPr lang="es-ES" b="0" i="0" dirty="0">
                <a:solidFill>
                  <a:srgbClr val="22282A"/>
                </a:solidFill>
                <a:effectLst/>
                <a:latin typeface="Roboto" panose="02000000000000000000" pitchFamily="2" charset="0"/>
              </a:rPr>
              <a:t> , lo que significa que la mayoría de los servidores y </a:t>
            </a:r>
            <a:r>
              <a:rPr lang="es-ES" b="1" i="0" u="sng" dirty="0">
                <a:solidFill>
                  <a:srgbClr val="0A1D33"/>
                </a:solidFill>
                <a:effectLst/>
                <a:latin typeface="Roboto" panose="02000000000000000000" pitchFamily="2" charset="0"/>
              </a:rPr>
              <a:t>sitios web</a:t>
            </a:r>
            <a:r>
              <a:rPr lang="es-ES" b="0" i="0" dirty="0">
                <a:solidFill>
                  <a:srgbClr val="22282A"/>
                </a:solidFill>
                <a:effectLst/>
                <a:latin typeface="Roboto" panose="02000000000000000000" pitchFamily="2" charset="0"/>
              </a:rPr>
              <a:t> HTTPS utilizan sus recursos.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220109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FA8C0-3644-AD2B-69E3-ACEDCE347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222222"/>
                </a:solidFill>
                <a:effectLst/>
                <a:latin typeface="Neusa"/>
              </a:rPr>
              <a:t>Casos de uso de OpenSSL para la entrega segura de aplicaciones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837813-D3E9-51E3-FA38-6366BE0AA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2548347"/>
            <a:ext cx="10515600" cy="2048285"/>
          </a:xfrm>
        </p:spPr>
        <p:txBody>
          <a:bodyPr/>
          <a:lstStyle/>
          <a:p>
            <a:pPr marL="0" indent="0">
              <a:buNone/>
            </a:pPr>
            <a:r>
              <a:rPr lang="es-ES" b="0" i="0" dirty="0">
                <a:solidFill>
                  <a:srgbClr val="222222"/>
                </a:solidFill>
                <a:effectLst/>
                <a:latin typeface="Proxima"/>
              </a:rPr>
              <a:t>OpenSSL puede desempeñar un papel crucial en una estrategia de entrega segura de aplicaciones, sobre todo cuando se trata de garantizar la confidencialidad, integridad y autenticidad de los datos transmitidos a través de las redes.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230815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1160A-F1D4-8403-1F6F-EE518858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222222"/>
                </a:solidFill>
                <a:effectLst/>
                <a:latin typeface="Neusa"/>
              </a:rPr>
              <a:t>Casos de uso de OpenSSL para la entrega segura de aplicaciones</a:t>
            </a:r>
            <a:endParaRPr lang="es-PA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CFB3863-7A3A-DD2B-3AE7-EEE882FFE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4696059"/>
              </p:ext>
            </p:extLst>
          </p:nvPr>
        </p:nvGraphicFramePr>
        <p:xfrm>
          <a:off x="796413" y="1877961"/>
          <a:ext cx="10599173" cy="4237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71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16D96-4B45-70C6-AEB5-A8FDA4A4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i="0" dirty="0">
                <a:solidFill>
                  <a:srgbClr val="22282A"/>
                </a:solidFill>
                <a:effectLst/>
                <a:latin typeface="Roboto" panose="02000000000000000000" pitchFamily="2" charset="0"/>
              </a:rPr>
              <a:t>OpenSSL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C55AB8-1393-3F3F-A4D1-019F290F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89059"/>
          </a:xfrm>
        </p:spPr>
        <p:txBody>
          <a:bodyPr/>
          <a:lstStyle/>
          <a:p>
            <a:r>
              <a:rPr lang="es-ES" b="0" i="0" dirty="0">
                <a:solidFill>
                  <a:srgbClr val="001D35"/>
                </a:solidFill>
                <a:effectLst/>
                <a:latin typeface="Google Sans"/>
              </a:rPr>
              <a:t>OpenSSL es una biblioteca de software de código abierto que proporciona funciones criptográficas para la implementación de protocolos de seguridad como TLS y SSL, que son esenciales para la comunicación segura en internet. En esencia, OpenSSL facilita la encriptación y desencriptación de datos, la gestión de certificados y la creación de firmas digitales. 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199167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54408-7557-902A-572E-3D21807C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Clave pública y privada con OpenSSL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566695-835D-F161-6C90-5F4BB845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7341"/>
            <a:ext cx="10515600" cy="2874194"/>
          </a:xfrm>
        </p:spPr>
        <p:txBody>
          <a:bodyPr/>
          <a:lstStyle/>
          <a:p>
            <a:r>
              <a:rPr lang="es-ES" dirty="0"/>
              <a:t>La clave pública y privada se utiliza en la infraestructura de clave pública KPI para el cifrado y descifrado de datos, así como para la firma digital y su verificación.</a:t>
            </a:r>
          </a:p>
          <a:p>
            <a:pPr marL="0" indent="0">
              <a:buNone/>
            </a:pPr>
            <a:r>
              <a:rPr lang="es-ES" dirty="0"/>
              <a:t>Algoritmos de generación de claves</a:t>
            </a:r>
          </a:p>
          <a:p>
            <a:r>
              <a:rPr lang="es-ES" dirty="0"/>
              <a:t>Los algoritmos de generación de clave más utilizados y soportados son </a:t>
            </a:r>
            <a:r>
              <a:rPr lang="es-ES" b="1" dirty="0"/>
              <a:t>RSA, DSA y ECDSA.</a:t>
            </a:r>
          </a:p>
          <a:p>
            <a:pPr marL="0" indent="0">
              <a:buNone/>
            </a:pP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792557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A56B6-E2DA-396A-C4B6-1A9A2DE0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901"/>
          </a:xfrm>
        </p:spPr>
        <p:txBody>
          <a:bodyPr>
            <a:normAutofit/>
          </a:bodyPr>
          <a:lstStyle/>
          <a:p>
            <a:pPr algn="ctr"/>
            <a:r>
              <a:rPr lang="es-ES" sz="3600" b="1" dirty="0"/>
              <a:t>Creación de Clave pública y privada con OpenSSL</a:t>
            </a:r>
            <a:endParaRPr lang="es-PA" sz="3600" b="1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F4127BF-F8DA-19F1-D5C7-8BC673E7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9655472"/>
              </p:ext>
            </p:extLst>
          </p:nvPr>
        </p:nvGraphicFramePr>
        <p:xfrm>
          <a:off x="838200" y="1288026"/>
          <a:ext cx="10252587" cy="5207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072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F3476-41C1-A949-17BA-5A9BA128A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208293"/>
            <a:ext cx="10515600" cy="599517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Información del Sistema para ver </a:t>
            </a:r>
            <a:endParaRPr lang="es-PA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1D07C8-19A8-3AEB-1A8A-E5B59EFA7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808563"/>
            <a:ext cx="5630061" cy="17528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F15BFF-BBA0-3C8B-780C-FA531119D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39" y="2632964"/>
            <a:ext cx="11269648" cy="123842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DB3011E-E46C-5756-AB4E-81B7D17F0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18" y="3871387"/>
            <a:ext cx="11564964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98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37AF0-DC0E-ACCC-4DA8-FD99C703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000" dirty="0"/>
              <a:t>Ejemplo de </a:t>
            </a:r>
            <a:r>
              <a:rPr lang="es-PA" sz="3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Encriptación Simétrica (reversible)</a:t>
            </a:r>
            <a:endParaRPr lang="es-PA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E0D4A7-DF08-F140-5CAF-E2D89EB45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612" y="1636699"/>
            <a:ext cx="9548776" cy="485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50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929DA-F305-89BE-CF14-AF670695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8115"/>
          </a:xfrm>
        </p:spPr>
        <p:txBody>
          <a:bodyPr>
            <a:normAutofit fontScale="90000"/>
          </a:bodyPr>
          <a:lstStyle/>
          <a:p>
            <a:r>
              <a:rPr lang="es-PA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Encriptación Asimétrica (clave pública/privada)</a:t>
            </a:r>
            <a:endParaRPr lang="es-PA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977136-13D7-AAA1-78EC-81FC9F7C5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57" y="792612"/>
            <a:ext cx="9389754" cy="570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50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4AD65-30FD-0C12-5113-564E5BCF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Encriptación Asimétrica (clave pública/privada)</a:t>
            </a:r>
            <a:endParaRPr lang="es-PA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C1495C-BA4C-FEF8-8345-18964AE39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692"/>
            <a:ext cx="12192000" cy="285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34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47425-10B6-0383-9180-C941CAF3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Seguridad de la Clave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63E155-B9DC-1BF4-B3A2-30A79CBE1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La seguridad de la clave la marcan dos factores</a:t>
            </a:r>
            <a:r>
              <a:rPr lang="es-PA" dirty="0"/>
              <a:t>:</a:t>
            </a:r>
          </a:p>
          <a:p>
            <a:r>
              <a:rPr lang="es-PA" dirty="0"/>
              <a:t>Tamaño de la clave. Al día de hoy la longitud o tamaño de una clave debe ser como mínimo de 2048 bits. Es la longitud recomendada, ya que tamaños de claves inferiores pueden ser obtenidos a partir de un certificado utilizando la fuerza bruta.</a:t>
            </a:r>
          </a:p>
          <a:p>
            <a:r>
              <a:rPr lang="es-PA" dirty="0" err="1"/>
              <a:t>Passphrase</a:t>
            </a:r>
            <a:r>
              <a:rPr lang="es-PA" dirty="0"/>
              <a:t>. Se recomienda que las claves sean protegidas por una contraseña. No obstante si es una clave que va a ser utilizada junto con su certificado en un servidor web o proxy reverso, no es necesario que la utilicemos, ya que cada vez que el servidor es reiniciado, tendríamos que introducir a mano dicha contraseña, lo cual es poco práctico.</a:t>
            </a:r>
          </a:p>
          <a:p>
            <a:pPr marL="0" indent="0">
              <a:buNone/>
            </a:pP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1026826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990BF-556A-1746-3006-9A486DF9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Utilizando OpenSSL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FAE8FE-8242-18A6-B4B3-883E9D6B9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458349"/>
          </a:xfrm>
        </p:spPr>
        <p:txBody>
          <a:bodyPr>
            <a:normAutofit fontScale="92500"/>
          </a:bodyPr>
          <a:lstStyle/>
          <a:p>
            <a:r>
              <a:rPr lang="es-ES" dirty="0"/>
              <a:t>A continuación, vamos a crear una clave utilizando el algoritmo RSA</a:t>
            </a:r>
          </a:p>
          <a:p>
            <a:r>
              <a:rPr lang="es-ES" dirty="0"/>
              <a:t>Generar una clave pública y privada en formato PEM sin contraseña</a:t>
            </a:r>
          </a:p>
          <a:p>
            <a:r>
              <a:rPr lang="es-ES" dirty="0" err="1"/>
              <a:t>Openssl</a:t>
            </a:r>
            <a:r>
              <a:rPr lang="es-ES" dirty="0"/>
              <a:t> </a:t>
            </a:r>
            <a:r>
              <a:rPr lang="es-ES" dirty="0" err="1"/>
              <a:t>genrsa</a:t>
            </a:r>
            <a:r>
              <a:rPr lang="es-ES" dirty="0"/>
              <a:t> –</a:t>
            </a:r>
            <a:r>
              <a:rPr lang="es-ES" dirty="0" err="1"/>
              <a:t>out</a:t>
            </a:r>
            <a:r>
              <a:rPr lang="es-ES" dirty="0"/>
              <a:t> </a:t>
            </a:r>
            <a:r>
              <a:rPr lang="es-ES" dirty="0" err="1"/>
              <a:t>key.pem</a:t>
            </a:r>
            <a:r>
              <a:rPr lang="es-ES" dirty="0"/>
              <a:t> 2048</a:t>
            </a:r>
          </a:p>
          <a:p>
            <a:pPr marL="0" indent="0">
              <a:buNone/>
            </a:pPr>
            <a:endParaRPr lang="es-PA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59237A6-8668-E0E2-688A-66D828B007C0}"/>
              </a:ext>
            </a:extLst>
          </p:cNvPr>
          <p:cNvSpPr txBox="1">
            <a:spLocks/>
          </p:cNvSpPr>
          <p:nvPr/>
        </p:nvSpPr>
        <p:spPr>
          <a:xfrm>
            <a:off x="838200" y="4127091"/>
            <a:ext cx="10515600" cy="1458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Generar una clave pública y privada en formato PEM con contraseña</a:t>
            </a:r>
          </a:p>
          <a:p>
            <a:r>
              <a:rPr lang="es-ES" dirty="0" err="1"/>
              <a:t>Openssl</a:t>
            </a:r>
            <a:r>
              <a:rPr lang="es-ES" dirty="0"/>
              <a:t> </a:t>
            </a:r>
            <a:r>
              <a:rPr lang="es-ES" dirty="0" err="1"/>
              <a:t>genrsa</a:t>
            </a:r>
            <a:r>
              <a:rPr lang="es-ES" dirty="0"/>
              <a:t>    -aes128  –</a:t>
            </a:r>
            <a:r>
              <a:rPr lang="es-ES" dirty="0" err="1"/>
              <a:t>out</a:t>
            </a:r>
            <a:r>
              <a:rPr lang="es-ES" dirty="0"/>
              <a:t> </a:t>
            </a:r>
            <a:r>
              <a:rPr lang="es-ES" dirty="0" err="1"/>
              <a:t>key.pem</a:t>
            </a:r>
            <a:r>
              <a:rPr lang="es-ES" dirty="0"/>
              <a:t> 2048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3961396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F7856-D5DD-5ECE-165A-43D68A12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Obtención o separación de la clave pública en formato PEM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06A84A-3289-F88A-5F3E-2C79AA1D6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103"/>
            <a:ext cx="10515600" cy="573446"/>
          </a:xfrm>
        </p:spPr>
        <p:txBody>
          <a:bodyPr/>
          <a:lstStyle/>
          <a:p>
            <a:r>
              <a:rPr lang="es-ES" dirty="0" err="1"/>
              <a:t>Openssl</a:t>
            </a:r>
            <a:r>
              <a:rPr lang="es-ES" dirty="0"/>
              <a:t> </a:t>
            </a:r>
            <a:r>
              <a:rPr lang="es-ES" dirty="0" err="1"/>
              <a:t>rsa</a:t>
            </a:r>
            <a:r>
              <a:rPr lang="es-ES" dirty="0"/>
              <a:t>  -in  </a:t>
            </a:r>
            <a:r>
              <a:rPr lang="es-ES" dirty="0" err="1"/>
              <a:t>key.pem</a:t>
            </a:r>
            <a:r>
              <a:rPr lang="es-ES" dirty="0"/>
              <a:t>  -</a:t>
            </a:r>
            <a:r>
              <a:rPr lang="es-ES" dirty="0" err="1"/>
              <a:t>pubout</a:t>
            </a:r>
            <a:r>
              <a:rPr lang="es-ES" dirty="0"/>
              <a:t>  -</a:t>
            </a:r>
            <a:r>
              <a:rPr lang="es-ES" dirty="0" err="1"/>
              <a:t>out</a:t>
            </a:r>
            <a:r>
              <a:rPr lang="es-ES" dirty="0"/>
              <a:t> </a:t>
            </a:r>
            <a:r>
              <a:rPr lang="es-ES" dirty="0" err="1"/>
              <a:t>key.public.pem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1350243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A10C4-BAB6-C310-942D-1C0006E1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  <a:t>Herramientas de línea de comandos de OpenSSL</a:t>
            </a:r>
            <a:endParaRPr lang="es-P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98B656-D633-74AA-EAC8-B1AAB69AF3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5333" y="2115447"/>
            <a:ext cx="11776667" cy="3885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5220" rIns="0" bIns="952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OpenSSL proporciona una interfaz de línea de comandos que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permite a los usuarios realizar una amplia gama de operaciones criptográficas y gestionar  certificados SSL/TLS.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 Algunas de las herramientas de línea de comandos de OpenSSL más utilizadas son:</a:t>
            </a:r>
            <a:endParaRPr kumimoji="0" lang="es-PA" altLang="es-P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openssl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 x509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: Se utiliza para gestionar certificados X.509, incluyendo la creación, visualización y verificación de certificados.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openssl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 </a:t>
            </a: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req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: Se utiliza para generar solicitudes de firma de certificado (CSR) y certificados </a:t>
            </a: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autofirmados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openssl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 </a:t>
            </a: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s_client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: Se utiliza para probar conexiones SSL/TLS y verificar la seguridad de un servidor remoto.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openssl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 </a:t>
            </a: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s_server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: Se utiliza para configurar un servidor SSL/TLS simple con fines de prueba y depuración.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openssl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 </a:t>
            </a:r>
            <a:r>
              <a:rPr kumimoji="0" lang="es-PA" altLang="es-PA" sz="2000" b="0" i="0" u="none" strike="noStrike" cap="none" normalizeH="0" baseline="0" dirty="0" err="1">
                <a:ln>
                  <a:noFill/>
                </a:ln>
                <a:solidFill>
                  <a:srgbClr val="3594F7"/>
                </a:solidFill>
                <a:effectLst/>
                <a:latin typeface="source-code-pro"/>
              </a:rPr>
              <a:t>enc</a:t>
            </a: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: Se utiliza para cifrar y descifrar datos utilizando diversos cifrados de clave simétrica.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Comprender las capacidades y el uso de estas herramientas de línea de comandos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de OpenSSL es fundamental para solucionar  problemas y gestionar de manera efectiva los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A" altLang="es-PA" sz="2000" b="0" i="0" u="none" strike="noStrike" cap="none" normalizeH="0" baseline="0" dirty="0">
                <a:ln>
                  <a:noFill/>
                </a:ln>
                <a:solidFill>
                  <a:srgbClr val="3F4A54"/>
                </a:solidFill>
                <a:effectLst/>
                <a:latin typeface="Nunito Variable"/>
              </a:rPr>
              <a:t> problemas relacionados con SSL/TLS en aplicaciones de ciberseguridad.</a:t>
            </a:r>
            <a:endParaRPr kumimoji="0" lang="es-PA" altLang="es-P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386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620EF-5939-D36B-E7EE-F789E0BD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6AA438-ADC2-0A04-190D-9C1EDBD85CF5}"/>
              </a:ext>
            </a:extLst>
          </p:cNvPr>
          <p:cNvSpPr txBox="1"/>
          <p:nvPr/>
        </p:nvSpPr>
        <p:spPr>
          <a:xfrm>
            <a:off x="3047163" y="324684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/>
              <a:t>https://www.apachelounge.com/download/win32/</a:t>
            </a:r>
          </a:p>
        </p:txBody>
      </p:sp>
    </p:spTree>
    <p:extLst>
      <p:ext uri="{BB962C8B-B14F-4D97-AF65-F5344CB8AC3E}">
        <p14:creationId xmlns:p14="http://schemas.microsoft.com/office/powerpoint/2010/main" val="523472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699A5-E878-71AA-E932-1F408B3E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  <a:t>Aplicaciones de OpenSSL en Ciberseguridad</a:t>
            </a:r>
            <a:b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</a:b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9A5839-0715-71C2-83EA-41BF934EC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OpenSSL se utiliza ampliamente en el campo de la ciberseguridad para una amplia gama de aplicaciones, entre las que se incluyen: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  <a:t>Seguridad del servidor web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: OpenSSL se utiliza comúnmente para habilitar HTTPS (HTTP sobre SSL/TLS) en servidores web, proporcionando cifrado y autenticación para una comunicación segura entre clientes y servidores.</a:t>
            </a:r>
          </a:p>
          <a:p>
            <a:pPr marL="0" indent="0">
              <a:buNone/>
            </a:pPr>
            <a: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  <a:t>2.Seguridad del correo electrónico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: OpenSSL se utiliza para proteger las comunicaciones de correo electrónico, permitiendo el uso de S/MIME (</a:t>
            </a:r>
            <a:r>
              <a:rPr lang="es-ES" b="0" i="0" dirty="0" err="1">
                <a:solidFill>
                  <a:srgbClr val="3F4A54"/>
                </a:solidFill>
                <a:effectLst/>
                <a:latin typeface="Nunito Variable"/>
              </a:rPr>
              <a:t>Secure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/</a:t>
            </a:r>
            <a:r>
              <a:rPr lang="es-ES" b="0" i="0" dirty="0" err="1">
                <a:solidFill>
                  <a:srgbClr val="3F4A54"/>
                </a:solidFill>
                <a:effectLst/>
                <a:latin typeface="Nunito Variable"/>
              </a:rPr>
              <a:t>Multipurpose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 Internet Mail </a:t>
            </a:r>
            <a:r>
              <a:rPr lang="es-ES" b="0" i="0" dirty="0" err="1">
                <a:solidFill>
                  <a:srgbClr val="3F4A54"/>
                </a:solidFill>
                <a:effectLst/>
                <a:latin typeface="Nunito Variable"/>
              </a:rPr>
              <a:t>Extensions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) y PGP (</a:t>
            </a:r>
            <a:r>
              <a:rPr lang="es-ES" b="0" i="0" dirty="0" err="1">
                <a:solidFill>
                  <a:srgbClr val="3F4A54"/>
                </a:solidFill>
                <a:effectLst/>
                <a:latin typeface="Nunito Variable"/>
              </a:rPr>
              <a:t>Pretty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 Good </a:t>
            </a:r>
            <a:r>
              <a:rPr lang="es-ES" b="0" i="0" dirty="0" err="1">
                <a:solidFill>
                  <a:srgbClr val="3F4A54"/>
                </a:solidFill>
                <a:effectLst/>
                <a:latin typeface="Nunito Variable"/>
              </a:rPr>
              <a:t>Privacy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) para el cifrado de correo electrónico y firmas digitales.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2545059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B509E-7762-28C0-F17B-15483BC1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  <a:t>Aplicaciones de OpenSSL en Ciberseguridad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E4021-3F18-D02A-BAAA-14390ED6E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  <a:t>Seguridad de la VPN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: OpenSSL es un componente fundamental de muchas soluciones de VPN (Virtual </a:t>
            </a:r>
            <a:r>
              <a:rPr lang="es-ES" b="0" i="0" dirty="0" err="1">
                <a:solidFill>
                  <a:srgbClr val="3F4A54"/>
                </a:solidFill>
                <a:effectLst/>
                <a:latin typeface="Nunito Variable"/>
              </a:rPr>
              <a:t>Private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 Network), proporcionando los mecanismos de cifrado y autenticación necesarios para un acceso remoto seguro.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  <a:t>Monitoreo de seguridad de red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: OpenSSL se utiliza a menudo en herramientas de seguridad de red, como capturadores de tráfico de red y sistemas de detección de intrusiones, para analizar y monitorear el tráfico de red cifrado.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F4A54"/>
                </a:solidFill>
                <a:effectLst/>
                <a:latin typeface="Nunito Variable"/>
              </a:rPr>
              <a:t>Operaciones criptográficas</a:t>
            </a:r>
            <a:r>
              <a:rPr lang="es-ES" b="0" i="0" dirty="0">
                <a:solidFill>
                  <a:srgbClr val="3F4A54"/>
                </a:solidFill>
                <a:effectLst/>
                <a:latin typeface="Nunito Variable"/>
              </a:rPr>
              <a:t>: El conjunto completo de funciones criptográficas de OpenSSL se puede utilizar en diversas aplicaciones de ciberseguridad, como el hashing de contraseñas, el cifrado de archivos y la generación y verificación de firmas digitales.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2363375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8CE35-1627-3FF1-48BD-A20D01BC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75BB75-2F81-34B6-C86F-9CDDE371D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A" dirty="0">
                <a:hlinkClick r:id="rId2"/>
              </a:rPr>
              <a:t>https://labex.io/es/tutorials/wireshark-how-to-troubleshoot-common-openssl-errors-in-cybersecurity-415405</a:t>
            </a:r>
            <a:endParaRPr lang="es-PA" dirty="0"/>
          </a:p>
          <a:p>
            <a:r>
              <a:rPr lang="es-PA" dirty="0">
                <a:hlinkClick r:id="rId3"/>
              </a:rPr>
              <a:t>https://docs.redhat.com/en/documentation/red_hat_enterprise_linux/9/html/deploying_web_servers_and_reverse_proxies/setting-apache-http-server_deploying-web-servers-and-reverse-proxies</a:t>
            </a:r>
            <a:r>
              <a:rPr lang="es-PA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718297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3DCBC-EE2D-1CFA-2608-44B6CD23F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43" y="1525246"/>
            <a:ext cx="10515600" cy="2132353"/>
          </a:xfrm>
        </p:spPr>
        <p:txBody>
          <a:bodyPr/>
          <a:lstStyle/>
          <a:p>
            <a:r>
              <a:rPr lang="es-PA" dirty="0"/>
              <a:t>12345</a:t>
            </a:r>
            <a:br>
              <a:rPr lang="es-PA" dirty="0"/>
            </a:br>
            <a:r>
              <a:rPr lang="es-PA" dirty="0" err="1"/>
              <a:t>openssl</a:t>
            </a:r>
            <a:r>
              <a:rPr lang="es-PA" dirty="0"/>
              <a:t> </a:t>
            </a:r>
            <a:r>
              <a:rPr lang="es-PA" dirty="0" err="1"/>
              <a:t>genrsa</a:t>
            </a:r>
            <a:r>
              <a:rPr lang="es-PA" dirty="0"/>
              <a:t> -aes256 -</a:t>
            </a:r>
            <a:r>
              <a:rPr lang="es-PA" dirty="0" err="1"/>
              <a:t>out</a:t>
            </a:r>
            <a:r>
              <a:rPr lang="es-PA" dirty="0"/>
              <a:t> </a:t>
            </a:r>
            <a:r>
              <a:rPr lang="es-PA" dirty="0" err="1"/>
              <a:t>llave.key</a:t>
            </a:r>
            <a:r>
              <a:rPr lang="es-PA" dirty="0"/>
              <a:t> 2048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36FBA9-8C28-A3EB-F04F-B8989FFC8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243" y="590549"/>
            <a:ext cx="10515600" cy="1091294"/>
          </a:xfrm>
        </p:spPr>
        <p:txBody>
          <a:bodyPr/>
          <a:lstStyle/>
          <a:p>
            <a:r>
              <a:rPr lang="es-PA" dirty="0"/>
              <a:t>https://www.youtube.com/watch?v=jZS2vVBFJTs</a:t>
            </a:r>
          </a:p>
        </p:txBody>
      </p:sp>
    </p:spTree>
    <p:extLst>
      <p:ext uri="{BB962C8B-B14F-4D97-AF65-F5344CB8AC3E}">
        <p14:creationId xmlns:p14="http://schemas.microsoft.com/office/powerpoint/2010/main" val="4079621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43DE9-3016-748A-744D-2011CA90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Generar un CSR 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76E013-D3AA-A0F9-1397-EA7AA7AEE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2607"/>
          </a:xfrm>
        </p:spPr>
        <p:txBody>
          <a:bodyPr/>
          <a:lstStyle/>
          <a:p>
            <a:r>
              <a:rPr lang="es-PA" dirty="0"/>
              <a:t>Que contará con la información de la compañía </a:t>
            </a:r>
            <a:r>
              <a:rPr lang="es-PA" dirty="0" err="1"/>
              <a:t>autofirmadora</a:t>
            </a:r>
            <a:endParaRPr lang="es-PA" dirty="0"/>
          </a:p>
          <a:p>
            <a:endParaRPr lang="es-PA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0A187A-9299-666E-1E3D-F85F8F0A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3220"/>
            <a:ext cx="6219653" cy="311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54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BC710F-F97E-A70E-EEF0-28FE35FD3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478605"/>
            <a:ext cx="10515600" cy="64924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C:\&gt;openssl req -new -key </a:t>
            </a:r>
            <a:r>
              <a:rPr lang="en-US" dirty="0" err="1"/>
              <a:t>llave.key</a:t>
            </a:r>
            <a:r>
              <a:rPr lang="en-US" dirty="0"/>
              <a:t> -out </a:t>
            </a:r>
            <a:r>
              <a:rPr lang="en-US" dirty="0" err="1"/>
              <a:t>UTP.csr</a:t>
            </a:r>
            <a:endParaRPr lang="en-US" dirty="0"/>
          </a:p>
          <a:p>
            <a:r>
              <a:rPr lang="en-US" dirty="0"/>
              <a:t>Enter pass phrase for </a:t>
            </a:r>
            <a:r>
              <a:rPr lang="en-US" dirty="0" err="1"/>
              <a:t>llave.key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Country Name (2 letter code) [AU]:PA</a:t>
            </a:r>
          </a:p>
          <a:p>
            <a:r>
              <a:rPr lang="en-US" dirty="0"/>
              <a:t>State or Province Name (full name) [Some-State]:PA</a:t>
            </a:r>
          </a:p>
          <a:p>
            <a:r>
              <a:rPr lang="en-US" dirty="0"/>
              <a:t>Locality Name (</a:t>
            </a:r>
            <a:r>
              <a:rPr lang="en-US" dirty="0" err="1"/>
              <a:t>eg</a:t>
            </a:r>
            <a:r>
              <a:rPr lang="en-US" dirty="0"/>
              <a:t>, city) []:</a:t>
            </a:r>
          </a:p>
          <a:p>
            <a:r>
              <a:rPr lang="en-US" dirty="0"/>
              <a:t>Organization Name (</a:t>
            </a:r>
            <a:r>
              <a:rPr lang="en-US" dirty="0" err="1"/>
              <a:t>eg</a:t>
            </a:r>
            <a:r>
              <a:rPr lang="en-US" dirty="0"/>
              <a:t>, company) [Internet </a:t>
            </a:r>
            <a:r>
              <a:rPr lang="en-US" dirty="0" err="1"/>
              <a:t>Widgits</a:t>
            </a:r>
            <a:r>
              <a:rPr lang="en-US" dirty="0"/>
              <a:t> Pty Ltd]:</a:t>
            </a:r>
          </a:p>
          <a:p>
            <a:r>
              <a:rPr lang="en-US" dirty="0"/>
              <a:t>Organizational Unit Name (</a:t>
            </a:r>
            <a:r>
              <a:rPr lang="en-US" dirty="0" err="1"/>
              <a:t>eg</a:t>
            </a:r>
            <a:r>
              <a:rPr lang="en-US" dirty="0"/>
              <a:t>, section) []:</a:t>
            </a:r>
          </a:p>
          <a:p>
            <a:r>
              <a:rPr lang="en-US" dirty="0"/>
              <a:t>Common Name (e.g. server FQDN or YOUR name) []:localhost</a:t>
            </a:r>
          </a:p>
          <a:p>
            <a:r>
              <a:rPr lang="en-US" dirty="0"/>
              <a:t>Email Address []:irinafong@gmail.com</a:t>
            </a:r>
          </a:p>
          <a:p>
            <a:endParaRPr lang="en-US" dirty="0"/>
          </a:p>
          <a:p>
            <a:r>
              <a:rPr lang="en-US" dirty="0"/>
              <a:t>Please enter the following 'extra' attributes</a:t>
            </a:r>
          </a:p>
          <a:p>
            <a:r>
              <a:rPr lang="en-US" dirty="0"/>
              <a:t>to be sent with your certificate request</a:t>
            </a:r>
          </a:p>
          <a:p>
            <a:r>
              <a:rPr lang="en-US" dirty="0"/>
              <a:t>A challenge password []:.</a:t>
            </a:r>
          </a:p>
          <a:p>
            <a:r>
              <a:rPr lang="en-US" dirty="0"/>
              <a:t>An optional company name []:.</a:t>
            </a: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897301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2DE81-14A5-DA07-863D-0673989E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910F80-90E0-3F61-0E52-A2B46C749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A"/>
              <a:t>https://www.youtube.com/watch?v=jZS2vVBFJTs</a:t>
            </a:r>
          </a:p>
        </p:txBody>
      </p:sp>
    </p:spTree>
    <p:extLst>
      <p:ext uri="{BB962C8B-B14F-4D97-AF65-F5344CB8AC3E}">
        <p14:creationId xmlns:p14="http://schemas.microsoft.com/office/powerpoint/2010/main" val="34907263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1426</Words>
  <Application>Microsoft Office PowerPoint</Application>
  <PresentationFormat>Panorámica</PresentationFormat>
  <Paragraphs>96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7" baseType="lpstr">
      <vt:lpstr>Aptos</vt:lpstr>
      <vt:lpstr>Aptos Display</vt:lpstr>
      <vt:lpstr>Arial</vt:lpstr>
      <vt:lpstr>Google Sans</vt:lpstr>
      <vt:lpstr>Neusa</vt:lpstr>
      <vt:lpstr>Nunito Variable</vt:lpstr>
      <vt:lpstr>Proxima</vt:lpstr>
      <vt:lpstr>Roboto</vt:lpstr>
      <vt:lpstr>source-code-pro</vt:lpstr>
      <vt:lpstr>Times New Roman</vt:lpstr>
      <vt:lpstr>Tema de Office</vt:lpstr>
      <vt:lpstr>OPENSSL</vt:lpstr>
      <vt:lpstr>Instalación Recomendada</vt:lpstr>
      <vt:lpstr>OPENSSL</vt:lpstr>
      <vt:lpstr>Repositorio de Ejemplos de OpenSSL</vt:lpstr>
      <vt:lpstr>OpenSSL</vt:lpstr>
      <vt:lpstr>Casos de uso de OpenSSL para la entrega segura de aplicaciones</vt:lpstr>
      <vt:lpstr>Casos de uso de OpenSSL para la entrega segura de aplicaciones</vt:lpstr>
      <vt:lpstr>OpenSSL</vt:lpstr>
      <vt:lpstr>Creación de Clave pública y privada con OpenSSL</vt:lpstr>
      <vt:lpstr>Creación de Clave pública y privada con OpenSSL</vt:lpstr>
      <vt:lpstr>Información del Sistema para ver </vt:lpstr>
      <vt:lpstr>Ejemplo de Encriptación Simétrica (reversible)</vt:lpstr>
      <vt:lpstr>Encriptación Asimétrica (clave pública/privada)</vt:lpstr>
      <vt:lpstr>Encriptación Asimétrica (clave pública/privada)</vt:lpstr>
      <vt:lpstr>Seguridad de la Clave</vt:lpstr>
      <vt:lpstr>Utilizando OpenSSL</vt:lpstr>
      <vt:lpstr>Obtención o separación de la clave pública en formato PEM</vt:lpstr>
      <vt:lpstr>Herramientas de línea de comandos de OpenSSL</vt:lpstr>
      <vt:lpstr>Presentación de PowerPoint</vt:lpstr>
      <vt:lpstr>Aplicaciones de OpenSSL en Ciberseguridad </vt:lpstr>
      <vt:lpstr>Aplicaciones de OpenSSL en Ciberseguridad</vt:lpstr>
      <vt:lpstr>Presentación de PowerPoint</vt:lpstr>
      <vt:lpstr>12345 openssl genrsa -aes256 -out llave.key 2048</vt:lpstr>
      <vt:lpstr>Generar un CSR 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Irina Fong</dc:creator>
  <cp:lastModifiedBy>Irina Fong</cp:lastModifiedBy>
  <cp:revision>17</cp:revision>
  <dcterms:created xsi:type="dcterms:W3CDTF">2025-05-10T15:55:38Z</dcterms:created>
  <dcterms:modified xsi:type="dcterms:W3CDTF">2025-09-28T13:52:55Z</dcterms:modified>
</cp:coreProperties>
</file>